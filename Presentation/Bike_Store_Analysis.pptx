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85" r:id="rId5"/>
    <p:sldId id="284" r:id="rId6"/>
    <p:sldId id="260" r:id="rId7"/>
    <p:sldId id="261" r:id="rId8"/>
    <p:sldId id="262" r:id="rId9"/>
    <p:sldId id="263" r:id="rId10"/>
    <p:sldId id="279" r:id="rId11"/>
    <p:sldId id="283" r:id="rId12"/>
    <p:sldId id="271" r:id="rId13"/>
    <p:sldId id="272" r:id="rId14"/>
    <p:sldId id="266" r:id="rId15"/>
    <p:sldId id="270" r:id="rId16"/>
    <p:sldId id="267" r:id="rId17"/>
    <p:sldId id="265" r:id="rId18"/>
    <p:sldId id="273" r:id="rId19"/>
    <p:sldId id="281" r:id="rId20"/>
    <p:sldId id="276" r:id="rId21"/>
    <p:sldId id="277" r:id="rId22"/>
    <p:sldId id="282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kshmi vamsi" userId="c2880346727386a0" providerId="LiveId" clId="{D39ADADA-7794-42A8-AE08-55B77976A776}"/>
    <pc:docChg chg="undo redo custSel addSld delSld modSld sldOrd">
      <pc:chgData name="Lakshmi vamsi" userId="c2880346727386a0" providerId="LiveId" clId="{D39ADADA-7794-42A8-AE08-55B77976A776}" dt="2026-07-25T11:33:32.016" v="323" actId="47"/>
      <pc:docMkLst>
        <pc:docMk/>
      </pc:docMkLst>
      <pc:sldChg chg="delSp modSp mod">
        <pc:chgData name="Lakshmi vamsi" userId="c2880346727386a0" providerId="LiveId" clId="{D39ADADA-7794-42A8-AE08-55B77976A776}" dt="2026-07-25T10:02:17.582" v="128" actId="1076"/>
        <pc:sldMkLst>
          <pc:docMk/>
          <pc:sldMk cId="0" sldId="256"/>
        </pc:sldMkLst>
        <pc:spChg chg="mod">
          <ac:chgData name="Lakshmi vamsi" userId="c2880346727386a0" providerId="LiveId" clId="{D39ADADA-7794-42A8-AE08-55B77976A776}" dt="2026-07-25T10:02:17.582" v="128" actId="1076"/>
          <ac:spMkLst>
            <pc:docMk/>
            <pc:sldMk cId="0" sldId="256"/>
            <ac:spMk id="4" creationId="{00000000-0000-0000-0000-000000000000}"/>
          </ac:spMkLst>
        </pc:spChg>
        <pc:spChg chg="del mod">
          <ac:chgData name="Lakshmi vamsi" userId="c2880346727386a0" providerId="LiveId" clId="{D39ADADA-7794-42A8-AE08-55B77976A776}" dt="2026-07-25T04:31:16.014" v="1" actId="478"/>
          <ac:spMkLst>
            <pc:docMk/>
            <pc:sldMk cId="0" sldId="256"/>
            <ac:spMk id="5" creationId="{00000000-0000-0000-0000-000000000000}"/>
          </ac:spMkLst>
        </pc:spChg>
      </pc:sldChg>
      <pc:sldChg chg="delSp modSp mod">
        <pc:chgData name="Lakshmi vamsi" userId="c2880346727386a0" providerId="LiveId" clId="{D39ADADA-7794-42A8-AE08-55B77976A776}" dt="2026-07-25T10:02:01.288" v="127" actId="478"/>
        <pc:sldMkLst>
          <pc:docMk/>
          <pc:sldMk cId="0" sldId="257"/>
        </pc:sldMkLst>
        <pc:spChg chg="mod">
          <ac:chgData name="Lakshmi vamsi" userId="c2880346727386a0" providerId="LiveId" clId="{D39ADADA-7794-42A8-AE08-55B77976A776}" dt="2026-07-25T04:31:51.355" v="27" actId="20577"/>
          <ac:spMkLst>
            <pc:docMk/>
            <pc:sldMk cId="0" sldId="257"/>
            <ac:spMk id="17" creationId="{BC84750B-42D5-47D2-A448-DB2F91B25004}"/>
          </ac:spMkLst>
        </pc:spChg>
        <pc:picChg chg="del">
          <ac:chgData name="Lakshmi vamsi" userId="c2880346727386a0" providerId="LiveId" clId="{D39ADADA-7794-42A8-AE08-55B77976A776}" dt="2026-07-25T10:01:59.142" v="126" actId="478"/>
          <ac:picMkLst>
            <pc:docMk/>
            <pc:sldMk cId="0" sldId="257"/>
            <ac:picMk id="20" creationId="{AF058EFE-AC9F-45A2-A8D8-24376621BE6E}"/>
          </ac:picMkLst>
        </pc:picChg>
        <pc:picChg chg="del">
          <ac:chgData name="Lakshmi vamsi" userId="c2880346727386a0" providerId="LiveId" clId="{D39ADADA-7794-42A8-AE08-55B77976A776}" dt="2026-07-25T10:02:01.288" v="127" actId="478"/>
          <ac:picMkLst>
            <pc:docMk/>
            <pc:sldMk cId="0" sldId="257"/>
            <ac:picMk id="22" creationId="{499D43E4-B12E-46A4-9003-314D9AC7215A}"/>
          </ac:picMkLst>
        </pc:picChg>
      </pc:sldChg>
      <pc:sldChg chg="modSp mod">
        <pc:chgData name="Lakshmi vamsi" userId="c2880346727386a0" providerId="LiveId" clId="{D39ADADA-7794-42A8-AE08-55B77976A776}" dt="2026-07-25T10:41:25.434" v="253" actId="20577"/>
        <pc:sldMkLst>
          <pc:docMk/>
          <pc:sldMk cId="0" sldId="263"/>
        </pc:sldMkLst>
        <pc:spChg chg="mod">
          <ac:chgData name="Lakshmi vamsi" userId="c2880346727386a0" providerId="LiveId" clId="{D39ADADA-7794-42A8-AE08-55B77976A776}" dt="2026-07-25T10:41:25.434" v="253" actId="20577"/>
          <ac:spMkLst>
            <pc:docMk/>
            <pc:sldMk cId="0" sldId="263"/>
            <ac:spMk id="4" creationId="{00000000-0000-0000-0000-000000000000}"/>
          </ac:spMkLst>
        </pc:spChg>
      </pc:sldChg>
      <pc:sldChg chg="addSp delSp modSp del mod">
        <pc:chgData name="Lakshmi vamsi" userId="c2880346727386a0" providerId="LiveId" clId="{D39ADADA-7794-42A8-AE08-55B77976A776}" dt="2026-07-25T11:33:32.016" v="323" actId="47"/>
        <pc:sldMkLst>
          <pc:docMk/>
          <pc:sldMk cId="0" sldId="275"/>
        </pc:sldMkLst>
        <pc:spChg chg="mod">
          <ac:chgData name="Lakshmi vamsi" userId="c2880346727386a0" providerId="LiveId" clId="{D39ADADA-7794-42A8-AE08-55B77976A776}" dt="2026-07-25T04:51:13.316" v="83" actId="255"/>
          <ac:spMkLst>
            <pc:docMk/>
            <pc:sldMk cId="0" sldId="275"/>
            <ac:spMk id="4" creationId="{00000000-0000-0000-0000-000000000000}"/>
          </ac:spMkLst>
        </pc:spChg>
        <pc:spChg chg="add del">
          <ac:chgData name="Lakshmi vamsi" userId="c2880346727386a0" providerId="LiveId" clId="{D39ADADA-7794-42A8-AE08-55B77976A776}" dt="2026-07-25T04:47:20.704" v="29"/>
          <ac:spMkLst>
            <pc:docMk/>
            <pc:sldMk cId="0" sldId="275"/>
            <ac:spMk id="6" creationId="{37DCCEB9-3DD9-4773-AA10-844652B477C2}"/>
          </ac:spMkLst>
        </pc:spChg>
        <pc:spChg chg="add del mod">
          <ac:chgData name="Lakshmi vamsi" userId="c2880346727386a0" providerId="LiveId" clId="{D39ADADA-7794-42A8-AE08-55B77976A776}" dt="2026-07-25T04:47:44.249" v="40"/>
          <ac:spMkLst>
            <pc:docMk/>
            <pc:sldMk cId="0" sldId="275"/>
            <ac:spMk id="7" creationId="{0A9775B0-BE15-42C2-A838-239560E79826}"/>
          </ac:spMkLst>
        </pc:spChg>
        <pc:spChg chg="add del">
          <ac:chgData name="Lakshmi vamsi" userId="c2880346727386a0" providerId="LiveId" clId="{D39ADADA-7794-42A8-AE08-55B77976A776}" dt="2026-07-25T04:48:45.385" v="61"/>
          <ac:spMkLst>
            <pc:docMk/>
            <pc:sldMk cId="0" sldId="275"/>
            <ac:spMk id="8" creationId="{C8F24AE2-F332-46A9-9B47-CC211CA572C5}"/>
          </ac:spMkLst>
        </pc:spChg>
      </pc:sldChg>
      <pc:sldChg chg="addSp delSp modSp mod">
        <pc:chgData name="Lakshmi vamsi" userId="c2880346727386a0" providerId="LiveId" clId="{D39ADADA-7794-42A8-AE08-55B77976A776}" dt="2026-07-25T09:50:53.308" v="119"/>
        <pc:sldMkLst>
          <pc:docMk/>
          <pc:sldMk cId="0" sldId="276"/>
        </pc:sldMkLst>
        <pc:spChg chg="mod">
          <ac:chgData name="Lakshmi vamsi" userId="c2880346727386a0" providerId="LiveId" clId="{D39ADADA-7794-42A8-AE08-55B77976A776}" dt="2026-07-25T09:50:53.308" v="119"/>
          <ac:spMkLst>
            <pc:docMk/>
            <pc:sldMk cId="0" sldId="276"/>
            <ac:spMk id="4" creationId="{00000000-0000-0000-0000-000000000000}"/>
          </ac:spMkLst>
        </pc:spChg>
        <pc:spChg chg="add del">
          <ac:chgData name="Lakshmi vamsi" userId="c2880346727386a0" providerId="LiveId" clId="{D39ADADA-7794-42A8-AE08-55B77976A776}" dt="2026-07-25T09:49:35.238" v="85"/>
          <ac:spMkLst>
            <pc:docMk/>
            <pc:sldMk cId="0" sldId="276"/>
            <ac:spMk id="6" creationId="{2EB7112B-9F53-4CE6-8BF2-087502E2D665}"/>
          </ac:spMkLst>
        </pc:spChg>
      </pc:sldChg>
      <pc:sldChg chg="addSp delSp modSp new mod ord">
        <pc:chgData name="Lakshmi vamsi" userId="c2880346727386a0" providerId="LiveId" clId="{D39ADADA-7794-42A8-AE08-55B77976A776}" dt="2026-07-25T11:24:08.056" v="315" actId="20577"/>
        <pc:sldMkLst>
          <pc:docMk/>
          <pc:sldMk cId="2952583374" sldId="279"/>
        </pc:sldMkLst>
        <pc:spChg chg="add del">
          <ac:chgData name="Lakshmi vamsi" userId="c2880346727386a0" providerId="LiveId" clId="{D39ADADA-7794-42A8-AE08-55B77976A776}" dt="2026-07-25T11:13:14.424" v="256" actId="22"/>
          <ac:spMkLst>
            <pc:docMk/>
            <pc:sldMk cId="2952583374" sldId="279"/>
            <ac:spMk id="3" creationId="{2CBB5EF4-3028-493C-AA19-E79E4EF45D55}"/>
          </ac:spMkLst>
        </pc:spChg>
        <pc:spChg chg="add mod">
          <ac:chgData name="Lakshmi vamsi" userId="c2880346727386a0" providerId="LiveId" clId="{D39ADADA-7794-42A8-AE08-55B77976A776}" dt="2026-07-25T11:24:08.056" v="315" actId="20577"/>
          <ac:spMkLst>
            <pc:docMk/>
            <pc:sldMk cId="2952583374" sldId="279"/>
            <ac:spMk id="10" creationId="{FF7FE707-FCD8-455C-9FB7-32C9F25DE911}"/>
          </ac:spMkLst>
        </pc:spChg>
        <pc:picChg chg="add del mod">
          <ac:chgData name="Lakshmi vamsi" userId="c2880346727386a0" providerId="LiveId" clId="{D39ADADA-7794-42A8-AE08-55B77976A776}" dt="2026-07-25T11:15:21.926" v="305" actId="1076"/>
          <ac:picMkLst>
            <pc:docMk/>
            <pc:sldMk cId="2952583374" sldId="279"/>
            <ac:picMk id="5" creationId="{BE2FA7B4-B0B2-4259-B623-F3685B5622DD}"/>
          </ac:picMkLst>
        </pc:picChg>
        <pc:picChg chg="add del">
          <ac:chgData name="Lakshmi vamsi" userId="c2880346727386a0" providerId="LiveId" clId="{D39ADADA-7794-42A8-AE08-55B77976A776}" dt="2026-07-25T11:14:57.058" v="297" actId="478"/>
          <ac:picMkLst>
            <pc:docMk/>
            <pc:sldMk cId="2952583374" sldId="279"/>
            <ac:picMk id="7" creationId="{774CA38A-7332-4450-8678-97EDD831FA56}"/>
          </ac:picMkLst>
        </pc:picChg>
        <pc:picChg chg="add del mod">
          <ac:chgData name="Lakshmi vamsi" userId="c2880346727386a0" providerId="LiveId" clId="{D39ADADA-7794-42A8-AE08-55B77976A776}" dt="2026-07-25T11:14:54.520" v="296" actId="478"/>
          <ac:picMkLst>
            <pc:docMk/>
            <pc:sldMk cId="2952583374" sldId="279"/>
            <ac:picMk id="9" creationId="{9A611D27-C369-4179-B970-806002FA862F}"/>
          </ac:picMkLst>
        </pc:picChg>
      </pc:sldChg>
      <pc:sldChg chg="modSp add mod setBg">
        <pc:chgData name="Lakshmi vamsi" userId="c2880346727386a0" providerId="LiveId" clId="{D39ADADA-7794-42A8-AE08-55B77976A776}" dt="2026-07-25T11:33:13.425" v="322" actId="2711"/>
        <pc:sldMkLst>
          <pc:docMk/>
          <pc:sldMk cId="0" sldId="281"/>
        </pc:sldMkLst>
        <pc:spChg chg="mod">
          <ac:chgData name="Lakshmi vamsi" userId="c2880346727386a0" providerId="LiveId" clId="{D39ADADA-7794-42A8-AE08-55B77976A776}" dt="2026-07-25T11:33:13.425" v="322" actId="2711"/>
          <ac:spMkLst>
            <pc:docMk/>
            <pc:sldMk cId="0" sldId="281"/>
            <ac:spMk id="4" creationId="{00000000-0000-0000-0000-000000000000}"/>
          </ac:spMkLst>
        </pc:spChg>
      </pc:sldChg>
      <pc:sldChg chg="add ord setBg">
        <pc:chgData name="Lakshmi vamsi" userId="c2880346727386a0" providerId="LiveId" clId="{D39ADADA-7794-42A8-AE08-55B77976A776}" dt="2026-07-25T11:29:08.363" v="318"/>
        <pc:sldMkLst>
          <pc:docMk/>
          <pc:sldMk cId="0" sldId="28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8687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82CE6-A994-9627-A66B-5FA3793D9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834375-5DC8-1CF5-D7D2-58B35EE111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F1303B-9FA5-D5E9-5DC8-C7DA2D3E51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6CB8D2-6403-906B-EC79-7A0449198E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9298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9C273-4606-E76F-F475-F802AD24B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6FF064-124E-F598-FF51-66CD3161C7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A67387-5726-D8A4-C423-E311F79636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23A156-7722-DAAD-CA09-999AD9E6C3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3495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22471A05A6?utm_source=chatgpt.com" TargetMode="External"/><Relationship Id="rId3" Type="http://schemas.openxmlformats.org/officeDocument/2006/relationships/hyperlink" Target="https://www.linkedin.com/in/vamsi-bodigadla-717330244/" TargetMode="External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hyperlink" Target="https://github.com/pagadalamanohar" TargetMode="External"/><Relationship Id="rId4" Type="http://schemas.openxmlformats.org/officeDocument/2006/relationships/hyperlink" Target="https://www.linkedin.com/in/kurivella-bala-venkata-mani-kanta-001421352" TargetMode="External"/><Relationship Id="rId9" Type="http://schemas.openxmlformats.org/officeDocument/2006/relationships/hyperlink" Target="https://www.linkedin.com/in/manoharpagadala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pkart.com/search?q=bikes%20&amp;otracker=search&amp;otracker1=search&amp;marketplace=FLIPKART&amp;as-show=on&amp;as=off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tl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" y="0"/>
            <a:ext cx="12188952" cy="66917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3265714"/>
            <a:ext cx="10728960" cy="1301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4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BIKE MARKET ANALYSIS </a:t>
            </a:r>
            <a:br>
              <a:rPr lang="en-IN" sz="4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IN" sz="3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Web Scraping &amp; Exploratory Data Analysis</a:t>
            </a:r>
            <a:endParaRPr lang="en-US" sz="3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731520" y="456701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31520" y="550468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Analytics Program  |  Innomatics Research Labs</a:t>
            </a:r>
            <a:endParaRPr lang="en-US" sz="13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8CE7C6B-A5F9-8730-CC11-DD6E2A41F9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54380" y="3360420"/>
            <a:ext cx="4259580" cy="277684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21440" y="-822960"/>
            <a:ext cx="2011680" cy="2011680"/>
          </a:xfrm>
          <a:prstGeom prst="ellipse">
            <a:avLst/>
          </a:prstGeom>
          <a:solidFill>
            <a:srgbClr val="E01F26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Us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720248"/>
            <a:ext cx="10881360" cy="18208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Kurivella Bala Venkata Mani Kanta,(Team Leader)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B-Tech (CSE)</a:t>
            </a:r>
          </a:p>
          <a:p>
            <a:pPr marL="342900" indent="-342900">
              <a:spcAft>
                <a:spcPts val="1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Science Trainee - </a:t>
            </a:r>
            <a:r>
              <a:rPr lang="en-US" sz="1600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Innomatics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Research Labs, Hyderabad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Skills: Python, SQL, Power BI, Excel, Web Scraping</a:t>
            </a:r>
            <a:endParaRPr lang="en-US" sz="1600" dirty="0"/>
          </a:p>
        </p:txBody>
      </p:sp>
      <p:sp>
        <p:nvSpPr>
          <p:cNvPr id="5" name="Text 3">
            <a:hlinkClick r:id="rId3"/>
          </p:cNvPr>
          <p:cNvSpPr/>
          <p:nvPr/>
        </p:nvSpPr>
        <p:spPr>
          <a:xfrm>
            <a:off x="7772400" y="639721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IN" sz="1600" dirty="0">
                <a:hlinkClick r:id="rId4"/>
              </a:rPr>
              <a:t>LinkedIn</a:t>
            </a:r>
            <a:endParaRPr lang="en-US" sz="1500" dirty="0"/>
          </a:p>
        </p:txBody>
      </p:sp>
      <p:pic>
        <p:nvPicPr>
          <p:cNvPr id="6" name="Image 0" descr="innomatics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17352" y="6450446"/>
            <a:ext cx="1051560" cy="151522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E715216-A7AD-48C6-B848-620885DB7937}"/>
              </a:ext>
            </a:extLst>
          </p:cNvPr>
          <p:cNvCxnSpPr/>
          <p:nvPr/>
        </p:nvCxnSpPr>
        <p:spPr>
          <a:xfrm>
            <a:off x="548640" y="2723949"/>
            <a:ext cx="10491537" cy="0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704F1A60-0704-4A4D-B97F-F8466A4CB6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6936" y="620829"/>
            <a:ext cx="479744" cy="4797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0871629-78BF-4E97-9B10-F94B61FBDE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0800000" flipV="1">
            <a:off x="7321708" y="1188720"/>
            <a:ext cx="330200" cy="3302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B4292FC-F37D-45EF-858B-40728E44BB6F}"/>
              </a:ext>
            </a:extLst>
          </p:cNvPr>
          <p:cNvSpPr txBox="1"/>
          <p:nvPr/>
        </p:nvSpPr>
        <p:spPr>
          <a:xfrm>
            <a:off x="7772400" y="1191276"/>
            <a:ext cx="1176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8"/>
              </a:rPr>
              <a:t>GitHub</a:t>
            </a:r>
            <a:endParaRPr lang="en-IN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8947DD47-A5A9-423C-9E6D-B86DB0AE52E7}"/>
              </a:ext>
            </a:extLst>
          </p:cNvPr>
          <p:cNvSpPr/>
          <p:nvPr/>
        </p:nvSpPr>
        <p:spPr>
          <a:xfrm>
            <a:off x="762000" y="2949256"/>
            <a:ext cx="10881360" cy="18208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spcAft>
                <a:spcPts val="1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Sankara P Manohar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BTech (AI&amp;DS)</a:t>
            </a:r>
          </a:p>
          <a:p>
            <a:pPr marL="342900" indent="-342900">
              <a:spcAft>
                <a:spcPts val="1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Science Trainee - Innomatics Research Labs, Hyderabad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Skills: Python, SQL, Power BI, Excel, Web Scraping</a:t>
            </a:r>
            <a:endParaRPr lang="en-US" sz="1600" dirty="0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BC84750B-42D5-47D2-A448-DB2F91B25004}"/>
              </a:ext>
            </a:extLst>
          </p:cNvPr>
          <p:cNvSpPr/>
          <p:nvPr/>
        </p:nvSpPr>
        <p:spPr>
          <a:xfrm>
            <a:off x="655320" y="4995383"/>
            <a:ext cx="10881360" cy="18208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Font typeface="Wingdings" panose="05000000000000000000" pitchFamily="2" charset="2"/>
              <a:buChar char="Ø"/>
            </a:pPr>
            <a:endParaRPr lang="en-US" sz="160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1578180-FFA0-4D2A-9BC2-7D9F8427BE79}"/>
              </a:ext>
            </a:extLst>
          </p:cNvPr>
          <p:cNvCxnSpPr/>
          <p:nvPr/>
        </p:nvCxnSpPr>
        <p:spPr>
          <a:xfrm>
            <a:off x="548640" y="4770077"/>
            <a:ext cx="10491537" cy="0"/>
          </a:xfrm>
          <a:prstGeom prst="lin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4154868F-DA62-47BF-A6D8-F443C19649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6936" y="3129238"/>
            <a:ext cx="479744" cy="47974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02E96DB-2DD2-4F08-AA45-0FC626FE538A}"/>
              </a:ext>
            </a:extLst>
          </p:cNvPr>
          <p:cNvSpPr txBox="1"/>
          <p:nvPr/>
        </p:nvSpPr>
        <p:spPr>
          <a:xfrm>
            <a:off x="7772400" y="3184444"/>
            <a:ext cx="2954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9"/>
              </a:rPr>
              <a:t>LinkedIn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18A17A-5721-6F77-63F8-088AA145216A}"/>
              </a:ext>
            </a:extLst>
          </p:cNvPr>
          <p:cNvSpPr txBox="1"/>
          <p:nvPr/>
        </p:nvSpPr>
        <p:spPr>
          <a:xfrm>
            <a:off x="7246936" y="3757370"/>
            <a:ext cx="589703" cy="45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B387CAF-2A90-47B3-75A9-B3FACE50B6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0800000" flipV="1">
            <a:off x="7309008" y="3671072"/>
            <a:ext cx="330200" cy="3302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3B49E669-7DAB-9C20-227E-3AEBCCCD6175}"/>
              </a:ext>
            </a:extLst>
          </p:cNvPr>
          <p:cNvSpPr txBox="1"/>
          <p:nvPr/>
        </p:nvSpPr>
        <p:spPr>
          <a:xfrm rot="10800000" flipV="1">
            <a:off x="7852568" y="3702163"/>
            <a:ext cx="1224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linkClick r:id="rId10"/>
              </a:rPr>
              <a:t>GitHub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5760720"/>
            <a:ext cx="2011680" cy="2011680"/>
          </a:xfrm>
          <a:prstGeom prst="ellipse">
            <a:avLst/>
          </a:prstGeom>
          <a:solidFill>
            <a:srgbClr val="E01F26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ts val="2500"/>
              </a:lnSpc>
              <a:buFont typeface="Courier New" panose="02070309020205020404" pitchFamily="49" charset="0"/>
              <a:buChar char="o"/>
            </a:pPr>
            <a:r>
              <a:rPr lang="en-IN" b="1" dirty="0"/>
              <a:t>Objective of the Project</a:t>
            </a:r>
            <a:r>
              <a:rPr lang="en-IN" dirty="0"/>
              <a:t>  </a:t>
            </a:r>
          </a:p>
          <a:p>
            <a:pPr marL="285750" indent="-285750">
              <a:lnSpc>
                <a:spcPts val="2500"/>
              </a:lnSpc>
              <a:buFont typeface="Courier New" panose="02070309020205020404" pitchFamily="49" charset="0"/>
              <a:buChar char="o"/>
            </a:pPr>
            <a:r>
              <a:rPr lang="en-IN" b="1" dirty="0"/>
              <a:t>Business Problem </a:t>
            </a:r>
          </a:p>
          <a:p>
            <a:pPr marL="285750" lvl="0" indent="-285750">
              <a:lnSpc>
                <a:spcPts val="2500"/>
              </a:lnSpc>
              <a:buFont typeface="Courier New" panose="02070309020205020404" pitchFamily="49" charset="0"/>
              <a:buChar char="o"/>
            </a:pPr>
            <a:r>
              <a:rPr lang="en-IN" b="1" dirty="0"/>
              <a:t>Website &amp; Data Collection</a:t>
            </a:r>
            <a:r>
              <a:rPr lang="en-IN" dirty="0"/>
              <a:t> </a:t>
            </a:r>
          </a:p>
          <a:p>
            <a:pPr marL="285750" lvl="0" indent="-285750">
              <a:lnSpc>
                <a:spcPts val="2500"/>
              </a:lnSpc>
              <a:buFont typeface="Courier New" panose="02070309020205020404" pitchFamily="49" charset="0"/>
              <a:buChar char="o"/>
            </a:pPr>
            <a:r>
              <a:rPr lang="en-IN" b="1" dirty="0"/>
              <a:t>Web Scraping Approach</a:t>
            </a:r>
            <a:r>
              <a:rPr lang="en-IN" dirty="0"/>
              <a:t> </a:t>
            </a:r>
          </a:p>
          <a:p>
            <a:pPr marL="285750" lvl="0" indent="-285750">
              <a:lnSpc>
                <a:spcPts val="2500"/>
              </a:lnSpc>
              <a:buFont typeface="Courier New" panose="02070309020205020404" pitchFamily="49" charset="0"/>
              <a:buChar char="o"/>
            </a:pPr>
            <a:r>
              <a:rPr lang="en-IN" b="1" dirty="0"/>
              <a:t>Raw Dataset Overview</a:t>
            </a:r>
            <a:r>
              <a:rPr lang="en-IN" dirty="0"/>
              <a:t> </a:t>
            </a:r>
          </a:p>
          <a:p>
            <a:pPr marL="285750" lvl="0" indent="-285750">
              <a:lnSpc>
                <a:spcPts val="2500"/>
              </a:lnSpc>
              <a:buFont typeface="Courier New" panose="02070309020205020404" pitchFamily="49" charset="0"/>
              <a:buChar char="o"/>
            </a:pPr>
            <a:r>
              <a:rPr lang="en-IN" b="1" dirty="0"/>
              <a:t>Data Cleaning</a:t>
            </a:r>
            <a:r>
              <a:rPr lang="en-IN" dirty="0"/>
              <a:t> </a:t>
            </a:r>
          </a:p>
          <a:p>
            <a:pPr marL="285750" lvl="0" indent="-285750">
              <a:lnSpc>
                <a:spcPts val="2500"/>
              </a:lnSpc>
              <a:buFont typeface="Courier New" panose="02070309020205020404" pitchFamily="49" charset="0"/>
              <a:buChar char="o"/>
            </a:pPr>
            <a:r>
              <a:rPr lang="en-IN" b="1" dirty="0"/>
              <a:t>Feature Engineering</a:t>
            </a:r>
            <a:r>
              <a:rPr lang="en-IN" dirty="0"/>
              <a:t> </a:t>
            </a:r>
          </a:p>
          <a:p>
            <a:pPr marL="285750" lvl="0" indent="-285750">
              <a:lnSpc>
                <a:spcPts val="2500"/>
              </a:lnSpc>
              <a:buFont typeface="Courier New" panose="02070309020205020404" pitchFamily="49" charset="0"/>
              <a:buChar char="o"/>
            </a:pPr>
            <a:r>
              <a:rPr lang="en-IN" b="1" dirty="0"/>
              <a:t>Final Dataset</a:t>
            </a:r>
            <a:r>
              <a:rPr lang="en-IN" dirty="0"/>
              <a:t> </a:t>
            </a:r>
          </a:p>
          <a:p>
            <a:pPr marL="285750" lvl="0" indent="-285750">
              <a:lnSpc>
                <a:spcPts val="2500"/>
              </a:lnSpc>
              <a:buFont typeface="Courier New" panose="02070309020205020404" pitchFamily="49" charset="0"/>
              <a:buChar char="o"/>
            </a:pPr>
            <a:r>
              <a:rPr lang="en-IN" b="1" dirty="0"/>
              <a:t>Business Questions</a:t>
            </a:r>
            <a:r>
              <a:rPr lang="en-IN" dirty="0"/>
              <a:t> </a:t>
            </a:r>
          </a:p>
          <a:p>
            <a:pPr marL="285750" lvl="0" indent="-285750">
              <a:lnSpc>
                <a:spcPts val="2500"/>
              </a:lnSpc>
              <a:buFont typeface="Courier New" panose="02070309020205020404" pitchFamily="49" charset="0"/>
              <a:buChar char="o"/>
            </a:pPr>
            <a:r>
              <a:rPr lang="en-IN" b="1" dirty="0"/>
              <a:t>Exploratory Data Analysis</a:t>
            </a:r>
            <a:r>
              <a:rPr lang="en-IN" dirty="0"/>
              <a:t> </a:t>
            </a:r>
          </a:p>
          <a:p>
            <a:pPr marL="285750" lvl="0" indent="-285750">
              <a:lnSpc>
                <a:spcPts val="2500"/>
              </a:lnSpc>
              <a:buFont typeface="Courier New" panose="02070309020205020404" pitchFamily="49" charset="0"/>
              <a:buChar char="o"/>
            </a:pPr>
            <a:r>
              <a:rPr lang="en-IN" b="1" dirty="0"/>
              <a:t>Business Insights</a:t>
            </a:r>
            <a:r>
              <a:rPr lang="en-IN" dirty="0"/>
              <a:t> </a:t>
            </a:r>
          </a:p>
          <a:p>
            <a:pPr marL="285750" lvl="0" indent="-285750">
              <a:lnSpc>
                <a:spcPts val="2500"/>
              </a:lnSpc>
              <a:buFont typeface="Courier New" panose="02070309020205020404" pitchFamily="49" charset="0"/>
              <a:buChar char="o"/>
            </a:pPr>
            <a:r>
              <a:rPr lang="en-IN" b="1" dirty="0"/>
              <a:t>Recommendations</a:t>
            </a:r>
            <a:r>
              <a:rPr lang="en-IN" dirty="0"/>
              <a:t> </a:t>
            </a:r>
          </a:p>
          <a:p>
            <a:pPr marL="285750" lvl="0" indent="-285750">
              <a:lnSpc>
                <a:spcPts val="2500"/>
              </a:lnSpc>
              <a:buFont typeface="Courier New" panose="02070309020205020404" pitchFamily="49" charset="0"/>
              <a:buChar char="o"/>
            </a:pPr>
            <a:r>
              <a:rPr lang="en-IN" b="1" dirty="0"/>
              <a:t>Challenges Faced</a:t>
            </a:r>
            <a:r>
              <a:rPr lang="en-IN" dirty="0"/>
              <a:t> </a:t>
            </a:r>
          </a:p>
          <a:p>
            <a:pPr marL="285750" lvl="0" indent="-285750">
              <a:lnSpc>
                <a:spcPts val="2500"/>
              </a:lnSpc>
              <a:buFont typeface="Courier New" panose="02070309020205020404" pitchFamily="49" charset="0"/>
              <a:buChar char="o"/>
            </a:pPr>
            <a:r>
              <a:rPr lang="en-IN" b="1" dirty="0"/>
              <a:t>Conclusion</a:t>
            </a:r>
            <a:r>
              <a:rPr lang="en-IN" dirty="0"/>
              <a:t> </a:t>
            </a:r>
          </a:p>
          <a:p>
            <a:pPr marL="285750" lvl="0" indent="-285750">
              <a:lnSpc>
                <a:spcPts val="2500"/>
              </a:lnSpc>
              <a:buFont typeface="Courier New" panose="02070309020205020404" pitchFamily="49" charset="0"/>
              <a:buChar char="o"/>
            </a:pPr>
            <a:r>
              <a:rPr lang="en-IN" b="1" dirty="0"/>
              <a:t>Q &amp; A</a:t>
            </a:r>
          </a:p>
          <a:p>
            <a:pPr>
              <a:spcAft>
                <a:spcPts val="1400"/>
              </a:spcAft>
              <a:buSzPct val="100000"/>
            </a:pPr>
            <a:endParaRPr lang="en-US" sz="1800" dirty="0"/>
          </a:p>
        </p:txBody>
      </p:sp>
      <p:pic>
        <p:nvPicPr>
          <p:cNvPr id="5" name="Image 0" descr="inno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7352" y="6450446"/>
            <a:ext cx="1051560" cy="1515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89038D-10E1-3534-E036-767B169672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554448"/>
            <a:ext cx="5125212" cy="34168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242A93-07C2-C89F-9735-5CE65C5DA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AE6C690-9C9A-FB75-084B-09EED6522466}"/>
              </a:ext>
            </a:extLst>
          </p:cNvPr>
          <p:cNvSpPr/>
          <p:nvPr/>
        </p:nvSpPr>
        <p:spPr>
          <a:xfrm>
            <a:off x="11521440" y="-822960"/>
            <a:ext cx="2011680" cy="2011680"/>
          </a:xfrm>
          <a:prstGeom prst="ellipse">
            <a:avLst/>
          </a:prstGeom>
          <a:solidFill>
            <a:srgbClr val="E01F26">
              <a:alpha val="10000"/>
            </a:srgbClr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2B25CE1-FD72-AF08-CC5D-4447B99A2FC8}"/>
              </a:ext>
            </a:extLst>
          </p:cNvPr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of the Project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D57498A-A099-3FFC-6F74-320366C40FC3}"/>
              </a:ext>
            </a:extLst>
          </p:cNvPr>
          <p:cNvSpPr/>
          <p:nvPr/>
        </p:nvSpPr>
        <p:spPr>
          <a:xfrm>
            <a:off x="640080" y="1280160"/>
            <a:ext cx="6604000" cy="5321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Collect</a:t>
            </a:r>
            <a:r>
              <a:rPr lang="en-IN" sz="2400" dirty="0"/>
              <a:t> real-world bike data through web scraping.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Extract</a:t>
            </a:r>
            <a:r>
              <a:rPr lang="en-IN" sz="2400" dirty="0"/>
              <a:t> key bike details such as price, brand, rating, engine and power.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Clean</a:t>
            </a:r>
            <a:r>
              <a:rPr lang="en-IN" sz="2400" dirty="0"/>
              <a:t> and preprocess the scraped data.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Standardize</a:t>
            </a:r>
            <a:r>
              <a:rPr lang="en-IN" sz="2400" dirty="0"/>
              <a:t> power values into BHP.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b="1" dirty="0" err="1"/>
              <a:t>Analyze</a:t>
            </a:r>
            <a:r>
              <a:rPr lang="en-IN" sz="2400" dirty="0"/>
              <a:t> bike pricing, performance and customer ratings.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Identify</a:t>
            </a:r>
            <a:r>
              <a:rPr lang="en-IN" sz="2400" dirty="0"/>
              <a:t> relationships between important bike features.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Generate</a:t>
            </a:r>
            <a:r>
              <a:rPr lang="en-IN" sz="2400" dirty="0"/>
              <a:t> business insights and recommendations.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endParaRPr lang="en-US" sz="1800" dirty="0"/>
          </a:p>
        </p:txBody>
      </p:sp>
      <p:pic>
        <p:nvPicPr>
          <p:cNvPr id="5" name="Image 0" descr="innomatics_logo.png">
            <a:extLst>
              <a:ext uri="{FF2B5EF4-FFF2-40B4-BE49-F238E27FC236}">
                <a16:creationId xmlns:a16="http://schemas.microsoft.com/office/drawing/2014/main" id="{BE02194D-2E98-F15E-B10D-305ED6BC1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7352" y="6450446"/>
            <a:ext cx="1051560" cy="1515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6F68B9-34C5-313A-2615-A9362D2DEF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0024" y="828674"/>
            <a:ext cx="4048887" cy="545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646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F59B2C-A4C2-BCB6-C857-9579F070E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B0598B8-DB46-A132-CFD3-E20FADC749AF}"/>
              </a:ext>
            </a:extLst>
          </p:cNvPr>
          <p:cNvSpPr/>
          <p:nvPr/>
        </p:nvSpPr>
        <p:spPr>
          <a:xfrm>
            <a:off x="11521440" y="-822960"/>
            <a:ext cx="2011680" cy="2011680"/>
          </a:xfrm>
          <a:prstGeom prst="ellipse">
            <a:avLst/>
          </a:prstGeom>
          <a:solidFill>
            <a:srgbClr val="E01F26">
              <a:alpha val="10000"/>
            </a:srgbClr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E0F9F65-9B21-435C-6B78-D641BED54564}"/>
              </a:ext>
            </a:extLst>
          </p:cNvPr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800" dirty="0">
                <a:solidFill>
                  <a:srgbClr val="FF0000"/>
                </a:solidFill>
              </a:rPr>
              <a:t>Business Problem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58E2FA1-4923-6539-904E-5E87A967B6FF}"/>
              </a:ext>
            </a:extLst>
          </p:cNvPr>
          <p:cNvSpPr/>
          <p:nvPr/>
        </p:nvSpPr>
        <p:spPr>
          <a:xfrm>
            <a:off x="640080" y="1280160"/>
            <a:ext cx="5686075" cy="5321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0"/>
            <a:r>
              <a:rPr lang="en-IN" sz="2300" b="1" dirty="0"/>
              <a:t>Online bike listings contain large amounts of information about price, brands, performance, customer ratings, and features, but this raw data is difficult to interpret for market analysis.</a:t>
            </a:r>
          </a:p>
          <a:p>
            <a:r>
              <a:rPr lang="en-IN" sz="2500" b="1" dirty="0"/>
              <a:t>The project aims to: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300" dirty="0"/>
              <a:t>Identify </a:t>
            </a:r>
            <a:r>
              <a:rPr lang="en-IN" sz="2300" b="1" dirty="0"/>
              <a:t>brand and pricing trends</a:t>
            </a:r>
            <a:r>
              <a:rPr lang="en-IN" sz="2300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300" dirty="0"/>
              <a:t>Understand </a:t>
            </a:r>
            <a:r>
              <a:rPr lang="en-IN" sz="2300" b="1" dirty="0"/>
              <a:t>engine &amp; performance patterns</a:t>
            </a:r>
            <a:r>
              <a:rPr lang="en-IN" sz="2300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300" dirty="0" err="1"/>
              <a:t>Analyze</a:t>
            </a:r>
            <a:r>
              <a:rPr lang="en-IN" sz="2300" dirty="0"/>
              <a:t> </a:t>
            </a:r>
            <a:r>
              <a:rPr lang="en-IN" sz="2300" b="1" dirty="0"/>
              <a:t>customer ratings and reviews</a:t>
            </a:r>
            <a:r>
              <a:rPr lang="en-IN" sz="2300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300" dirty="0"/>
              <a:t>Compare </a:t>
            </a:r>
            <a:r>
              <a:rPr lang="en-IN" sz="2300" b="1" dirty="0"/>
              <a:t>bike features and specifications</a:t>
            </a:r>
            <a:r>
              <a:rPr lang="en-IN" sz="2300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300" dirty="0"/>
              <a:t>Discover </a:t>
            </a:r>
            <a:r>
              <a:rPr lang="en-IN" sz="2300" b="1" dirty="0"/>
              <a:t>relationships between price and performance</a:t>
            </a:r>
            <a:r>
              <a:rPr lang="en-IN" sz="2300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300" dirty="0"/>
              <a:t>Generate </a:t>
            </a:r>
            <a:r>
              <a:rPr lang="en-IN" sz="2300" b="1" dirty="0"/>
              <a:t>data-driven market insights</a:t>
            </a:r>
            <a:endParaRPr lang="en-IN" sz="2300" dirty="0"/>
          </a:p>
          <a:p>
            <a:pPr lvl="0"/>
            <a:endParaRPr lang="en-US" sz="2300" b="1" dirty="0"/>
          </a:p>
        </p:txBody>
      </p:sp>
      <p:pic>
        <p:nvPicPr>
          <p:cNvPr id="5" name="Image 0" descr="innomatics_logo.png">
            <a:extLst>
              <a:ext uri="{FF2B5EF4-FFF2-40B4-BE49-F238E27FC236}">
                <a16:creationId xmlns:a16="http://schemas.microsoft.com/office/drawing/2014/main" id="{944D52F9-9BE3-6AEE-E266-361E0A2814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7352" y="6450446"/>
            <a:ext cx="1051560" cy="15152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13CDFB3-541E-52EE-E42F-3C5ED12F07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7290" y="446002"/>
            <a:ext cx="5184710" cy="5821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330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5760720"/>
            <a:ext cx="2011680" cy="2011680"/>
          </a:xfrm>
          <a:prstGeom prst="ellipse">
            <a:avLst/>
          </a:prstGeom>
          <a:solidFill>
            <a:srgbClr val="E01F26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&amp; Scope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04983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500" b="1" dirty="0"/>
              <a:t>Website                                    :                                     </a:t>
            </a:r>
            <a:r>
              <a:rPr lang="en-IN" sz="2500" dirty="0"/>
              <a:t>Flipkart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500" b="1" dirty="0"/>
              <a:t>Website Link                            :                                </a:t>
            </a:r>
            <a:r>
              <a:rPr lang="en-IN" sz="2500" b="1" dirty="0">
                <a:hlinkClick r:id="rId3"/>
              </a:rPr>
              <a:t>flipkart.com</a:t>
            </a:r>
            <a:endParaRPr lang="en-IN" sz="25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500" b="1" dirty="0"/>
              <a:t>Data Category                         :                      </a:t>
            </a:r>
            <a:r>
              <a:rPr lang="en-IN" sz="2500" dirty="0"/>
              <a:t>Non-Electric Motorcycles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500" b="1" dirty="0"/>
              <a:t>Final Dataset                           :                              </a:t>
            </a:r>
            <a:r>
              <a:rPr lang="en-IN" sz="2500" dirty="0"/>
              <a:t>263 Bike Records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500" b="1" dirty="0"/>
              <a:t>Features Used                         :                                 </a:t>
            </a:r>
            <a:r>
              <a:rPr lang="en-IN" sz="2500" dirty="0"/>
              <a:t>11 Columns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500" b="1" dirty="0"/>
              <a:t>Project Scope                          :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IN" sz="2500" dirty="0"/>
              <a:t> Bike product details 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IN" sz="2500" dirty="0"/>
              <a:t> Price analysis 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IN" sz="2500" dirty="0"/>
              <a:t> Customer ratings &amp; reviews 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IN" sz="2500" dirty="0"/>
              <a:t> Engine &amp; power specifications 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IN" sz="2500" dirty="0"/>
              <a:t> Bike features and specifications</a:t>
            </a:r>
          </a:p>
          <a:p>
            <a:pPr>
              <a:spcAft>
                <a:spcPts val="1400"/>
              </a:spcAft>
              <a:buSzPct val="100000"/>
            </a:pPr>
            <a:endParaRPr lang="en-US" sz="1800" dirty="0"/>
          </a:p>
        </p:txBody>
      </p:sp>
      <p:pic>
        <p:nvPicPr>
          <p:cNvPr id="5" name="Image 0" descr="innomatics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7352" y="6450446"/>
            <a:ext cx="1051560" cy="1515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21440" y="-822960"/>
            <a:ext cx="2011680" cy="2011680"/>
          </a:xfrm>
          <a:prstGeom prst="ellipse">
            <a:avLst/>
          </a:prstGeom>
          <a:solidFill>
            <a:srgbClr val="E01F26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Extracted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188720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spcAft>
                <a:spcPts val="1400"/>
              </a:spcAft>
              <a:buSzPct val="100000"/>
            </a:pPr>
            <a:r>
              <a:rPr lang="en-IN" b="1" dirty="0"/>
              <a:t>Key attributes collected from Flipkart for Bike Market Analysis</a:t>
            </a:r>
          </a:p>
          <a:p>
            <a:pPr>
              <a:spcAft>
                <a:spcPts val="1400"/>
              </a:spcAft>
              <a:buSzPct val="100000"/>
            </a:pPr>
            <a:endParaRPr lang="en-US" b="1" dirty="0"/>
          </a:p>
        </p:txBody>
      </p:sp>
      <p:pic>
        <p:nvPicPr>
          <p:cNvPr id="5" name="Image 0" descr="inno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7352" y="6450446"/>
            <a:ext cx="1051560" cy="151522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9AE083C-45D1-EC66-4EEC-4B7F78A0A6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4118748"/>
              </p:ext>
            </p:extLst>
          </p:nvPr>
        </p:nvGraphicFramePr>
        <p:xfrm>
          <a:off x="883460" y="1811462"/>
          <a:ext cx="10425082" cy="4440624"/>
        </p:xfrm>
        <a:graphic>
          <a:graphicData uri="http://schemas.openxmlformats.org/drawingml/2006/table">
            <a:tbl>
              <a:tblPr/>
              <a:tblGrid>
                <a:gridCol w="5302736">
                  <a:extLst>
                    <a:ext uri="{9D8B030D-6E8A-4147-A177-3AD203B41FA5}">
                      <a16:colId xmlns:a16="http://schemas.microsoft.com/office/drawing/2014/main" val="2569866233"/>
                    </a:ext>
                  </a:extLst>
                </a:gridCol>
                <a:gridCol w="5122346">
                  <a:extLst>
                    <a:ext uri="{9D8B030D-6E8A-4147-A177-3AD203B41FA5}">
                      <a16:colId xmlns:a16="http://schemas.microsoft.com/office/drawing/2014/main" val="1518606659"/>
                    </a:ext>
                  </a:extLst>
                </a:gridCol>
              </a:tblGrid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/>
                        <a:t>Field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/>
                        <a:t>Description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9735820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Product Name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Bike model name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804128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Brand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Manufacturer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7556976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Price</a:t>
                      </a:r>
                      <a:endParaRPr lang="en-IN" sz="1800" dirty="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Bike price in INR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6276154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Rating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Customer rating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7630685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Total Ratings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Number of customer ratings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763822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Total Reviews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Number of customer reviews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6166331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Engine Capacity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Engine size in CC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0683799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Maximum Power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Engine power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8668431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Front Brake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Brake type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5518364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Console Type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Instrument console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646658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Tire Type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Type of tire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41431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5760720"/>
            <a:ext cx="2011680" cy="2011680"/>
          </a:xfrm>
          <a:prstGeom prst="ellipse">
            <a:avLst/>
          </a:prstGeom>
          <a:solidFill>
            <a:srgbClr val="E01F26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Scraping Approach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05468" y="4242816"/>
            <a:ext cx="3498981" cy="1673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50" dirty="0"/>
          </a:p>
        </p:txBody>
      </p:sp>
      <p:pic>
        <p:nvPicPr>
          <p:cNvPr id="13" name="Image 0" descr="inno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7352" y="6450446"/>
            <a:ext cx="1051560" cy="151522"/>
          </a:xfrm>
          <a:prstGeom prst="rect">
            <a:avLst/>
          </a:prstGeom>
        </p:spPr>
      </p:pic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9925F6D-0A3A-2214-A17D-DAB3A3E291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6654284"/>
              </p:ext>
            </p:extLst>
          </p:nvPr>
        </p:nvGraphicFramePr>
        <p:xfrm>
          <a:off x="640080" y="1005840"/>
          <a:ext cx="5455920" cy="4754880"/>
        </p:xfrm>
        <a:graphic>
          <a:graphicData uri="http://schemas.openxmlformats.org/drawingml/2006/table">
            <a:tbl>
              <a:tblPr/>
              <a:tblGrid>
                <a:gridCol w="2727960">
                  <a:extLst>
                    <a:ext uri="{9D8B030D-6E8A-4147-A177-3AD203B41FA5}">
                      <a16:colId xmlns:a16="http://schemas.microsoft.com/office/drawing/2014/main" val="1112332072"/>
                    </a:ext>
                  </a:extLst>
                </a:gridCol>
                <a:gridCol w="2727960">
                  <a:extLst>
                    <a:ext uri="{9D8B030D-6E8A-4147-A177-3AD203B41FA5}">
                      <a16:colId xmlns:a16="http://schemas.microsoft.com/office/drawing/2014/main" val="1070812420"/>
                    </a:ext>
                  </a:extLst>
                </a:gridCol>
              </a:tblGrid>
              <a:tr h="792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Step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5012651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🌐 </a:t>
                      </a:r>
                      <a:r>
                        <a:rPr lang="en-IN" b="1" dirty="0"/>
                        <a:t>1. Website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Flipkart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1835217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🔍 </a:t>
                      </a:r>
                      <a:r>
                        <a:rPr lang="en-IN" b="1" dirty="0"/>
                        <a:t>2. Search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Search bike listings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96813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📄 </a:t>
                      </a:r>
                      <a:r>
                        <a:rPr lang="en-IN" b="1" dirty="0"/>
                        <a:t>3. Extraction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Extract required fields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961698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🐼 </a:t>
                      </a:r>
                      <a:r>
                        <a:rPr lang="en-IN" b="1"/>
                        <a:t>4. DataFrame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Store data using Pandas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7076935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💾 </a:t>
                      </a:r>
                      <a:r>
                        <a:rPr lang="en-IN" b="1" dirty="0"/>
                        <a:t>5. Dataset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Save scraped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1186962"/>
                  </a:ext>
                </a:extLst>
              </a:tr>
            </a:tbl>
          </a:graphicData>
        </a:graphic>
      </p:graphicFrame>
      <p:pic>
        <p:nvPicPr>
          <p:cNvPr id="24" name="Picture 23">
            <a:extLst>
              <a:ext uri="{FF2B5EF4-FFF2-40B4-BE49-F238E27FC236}">
                <a16:creationId xmlns:a16="http://schemas.microsoft.com/office/drawing/2014/main" id="{181B9B16-72FD-747F-D5C9-6304AD24C9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3498" y="1152331"/>
            <a:ext cx="4399862" cy="45720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1B1F8CC9-B57D-784E-283A-6EBE82D80AA1}"/>
              </a:ext>
            </a:extLst>
          </p:cNvPr>
          <p:cNvSpPr txBox="1"/>
          <p:nvPr/>
        </p:nvSpPr>
        <p:spPr>
          <a:xfrm>
            <a:off x="765110" y="5705669"/>
            <a:ext cx="81245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Note :</a:t>
            </a:r>
          </a:p>
          <a:p>
            <a:r>
              <a:rPr lang="en-IN" dirty="0"/>
              <a:t>The final dataset contains 263 bike records and 11 features after preprocessing.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21440" y="-822960"/>
            <a:ext cx="2011680" cy="2011680"/>
          </a:xfrm>
          <a:prstGeom prst="ellipse">
            <a:avLst/>
          </a:prstGeom>
          <a:solidFill>
            <a:srgbClr val="E01F26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E0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 &amp; Feature Engineering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SzPct val="100000"/>
            </a:pP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2487168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898648"/>
            <a:ext cx="10698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50" dirty="0"/>
          </a:p>
        </p:txBody>
      </p:sp>
      <p:pic>
        <p:nvPicPr>
          <p:cNvPr id="13" name="Image 0" descr="inno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7352" y="6450446"/>
            <a:ext cx="1051560" cy="151522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9C0A1E2-0D91-297E-B429-CEA7F6F472BE}"/>
              </a:ext>
            </a:extLst>
          </p:cNvPr>
          <p:cNvSpPr/>
          <p:nvPr/>
        </p:nvSpPr>
        <p:spPr>
          <a:xfrm>
            <a:off x="91440" y="1328658"/>
            <a:ext cx="3346241" cy="2410544"/>
          </a:xfrm>
          <a:prstGeom prst="roundRect">
            <a:avLst>
              <a:gd name="adj" fmla="val 7905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IN" sz="2200" b="1" dirty="0"/>
              <a:t>RAW SCRAPED DATA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200" dirty="0"/>
              <a:t>Missing Values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200" dirty="0"/>
              <a:t>Inconsistent Formats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200" dirty="0"/>
              <a:t>Mixed Data Types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200" dirty="0"/>
              <a:t>Irrelevant Columns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7923D29-9C94-3F58-2A1A-B46096604560}"/>
              </a:ext>
            </a:extLst>
          </p:cNvPr>
          <p:cNvSpPr/>
          <p:nvPr/>
        </p:nvSpPr>
        <p:spPr>
          <a:xfrm>
            <a:off x="3840480" y="1328658"/>
            <a:ext cx="3879448" cy="244468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IN" sz="2400" b="1" dirty="0"/>
              <a:t>DATA CLEANING </a:t>
            </a:r>
            <a:r>
              <a:rPr lang="en-IN" sz="2200" b="1" dirty="0"/>
              <a:t>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Handle Missing Values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Correct Data Types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Standardize Categories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Remove Unnecessary Columns</a:t>
            </a:r>
          </a:p>
          <a:p>
            <a:pPr marL="342900" indent="-342900" algn="ctr">
              <a:buFont typeface="Wingdings" panose="05000000000000000000" pitchFamily="2" charset="2"/>
              <a:buChar char="§"/>
            </a:pPr>
            <a:endParaRPr lang="en-IN" sz="2200" b="1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24D2A84-E4A1-3263-27BF-415E29C2B430}"/>
              </a:ext>
            </a:extLst>
          </p:cNvPr>
          <p:cNvSpPr/>
          <p:nvPr/>
        </p:nvSpPr>
        <p:spPr>
          <a:xfrm>
            <a:off x="8280400" y="1362803"/>
            <a:ext cx="3789680" cy="215222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IN" sz="2400" b="1" dirty="0"/>
              <a:t>FEATURE ENGINEERING</a:t>
            </a:r>
            <a:endParaRPr lang="en-IN" sz="2200" b="1" dirty="0"/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Extract Power Values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Convert Power → BHP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IN" sz="2400" dirty="0"/>
              <a:t>Create Analysis-Ready Feature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endParaRPr lang="en-IN" sz="2400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36DE7F7-C991-9531-C96C-85C3BA11A8DA}"/>
              </a:ext>
            </a:extLst>
          </p:cNvPr>
          <p:cNvSpPr/>
          <p:nvPr/>
        </p:nvSpPr>
        <p:spPr>
          <a:xfrm>
            <a:off x="7963382" y="4098952"/>
            <a:ext cx="3942029" cy="176757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IN" sz="2400" b="1" dirty="0"/>
              <a:t>FINAL DATASET</a:t>
            </a:r>
            <a:endParaRPr lang="en-IN" sz="22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263 Records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11 Features</a:t>
            </a:r>
          </a:p>
          <a:p>
            <a:r>
              <a:rPr lang="en-IN" sz="2400" dirty="0"/>
              <a:t>Analysis-Ready Data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endParaRPr lang="en-IN" sz="2400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37B27D9-06E6-CBE8-5DEA-56E8674BA8FF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>
            <a:off x="3437681" y="2533930"/>
            <a:ext cx="402799" cy="170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E8F34B5-0634-0702-CB9F-7D6B6AAA688B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 flipV="1">
            <a:off x="7719928" y="2438916"/>
            <a:ext cx="560472" cy="1120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7E5268B-A9B4-52A3-56C0-B20E6142C05E}"/>
              </a:ext>
            </a:extLst>
          </p:cNvPr>
          <p:cNvCxnSpPr>
            <a:cxnSpLocks/>
            <a:stCxn id="19" idx="2"/>
            <a:endCxn id="24" idx="0"/>
          </p:cNvCxnSpPr>
          <p:nvPr/>
        </p:nvCxnSpPr>
        <p:spPr>
          <a:xfrm flipH="1">
            <a:off x="9934397" y="3515028"/>
            <a:ext cx="240843" cy="5839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E587C155-AA6F-DA0D-C3E7-5EDC3553F745}"/>
              </a:ext>
            </a:extLst>
          </p:cNvPr>
          <p:cNvSpPr/>
          <p:nvPr/>
        </p:nvSpPr>
        <p:spPr>
          <a:xfrm>
            <a:off x="1239520" y="4531360"/>
            <a:ext cx="3545840" cy="16560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IN" sz="2200" b="1" dirty="0"/>
              <a:t>Power Standardization </a:t>
            </a:r>
          </a:p>
          <a:p>
            <a:pPr algn="ctr"/>
            <a:r>
              <a:rPr lang="en-IN" dirty="0"/>
              <a:t>RAW VALUE 8.68 kW (11.8 PS) @ 8500 rpm </a:t>
            </a:r>
          </a:p>
          <a:p>
            <a:pPr algn="ctr"/>
            <a:r>
              <a:rPr lang="en-IN" dirty="0"/>
              <a:t>↓</a:t>
            </a:r>
          </a:p>
          <a:p>
            <a:pPr algn="ctr"/>
            <a:r>
              <a:rPr lang="en-IN" dirty="0"/>
              <a:t> CLEAN FEATURE 11.8 BHP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  <p:bldP spid="19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1">
            <a:extLst>
              <a:ext uri="{FF2B5EF4-FFF2-40B4-BE49-F238E27FC236}">
                <a16:creationId xmlns:a16="http://schemas.microsoft.com/office/drawing/2014/main" id="{FF7FE707-FCD8-455C-9FB7-32C9F25DE911}"/>
              </a:ext>
            </a:extLst>
          </p:cNvPr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1F26"/>
                </a:solidFill>
                <a:latin typeface="Arial" pitchFamily="34" charset="0"/>
                <a:cs typeface="Arial" pitchFamily="34" charset="-120"/>
              </a:rPr>
              <a:t>Before Data Cleaning And Feature Engineering </a:t>
            </a:r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BB9AC7-095F-397F-13BA-BC0D8BC11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60" y="985521"/>
            <a:ext cx="10993120" cy="3230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583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1632F-A48C-0C86-9A02-ED56A7025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1">
            <a:extLst>
              <a:ext uri="{FF2B5EF4-FFF2-40B4-BE49-F238E27FC236}">
                <a16:creationId xmlns:a16="http://schemas.microsoft.com/office/drawing/2014/main" id="{9A47F56A-85EB-513D-C6DE-538D78631EF8}"/>
              </a:ext>
            </a:extLst>
          </p:cNvPr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1F26"/>
                </a:solidFill>
                <a:latin typeface="Arial" pitchFamily="34" charset="0"/>
                <a:cs typeface="Arial" pitchFamily="34" charset="-120"/>
              </a:rPr>
              <a:t> After Data Cleaning And Feature Engineering </a:t>
            </a:r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E798C9-4FCC-DA75-2562-263D052B21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70560" y="1097280"/>
            <a:ext cx="11064240" cy="327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3362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21440" y="-822960"/>
            <a:ext cx="2011680" cy="2011680"/>
          </a:xfrm>
          <a:prstGeom prst="ellipse">
            <a:avLst/>
          </a:prstGeom>
          <a:solidFill>
            <a:srgbClr val="E01F26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29736" y="-24823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9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Q1. </a:t>
            </a:r>
            <a:r>
              <a:rPr lang="en-IN" sz="2000" dirty="0">
                <a:solidFill>
                  <a:srgbClr val="FF0000"/>
                </a:solidFill>
              </a:rPr>
              <a:t>What is the overall price distribution of bikes?</a:t>
            </a:r>
            <a:endParaRPr lang="en-US" sz="1900" dirty="0">
              <a:solidFill>
                <a:srgbClr val="FF00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4697128" cy="2331720"/>
          </a:xfrm>
          <a:prstGeom prst="rect">
            <a:avLst/>
          </a:prstGeom>
          <a:solidFill>
            <a:srgbClr val="F6F6F6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4697128" cy="411480"/>
          </a:xfrm>
          <a:prstGeom prst="rect">
            <a:avLst/>
          </a:prstGeom>
          <a:solidFill>
            <a:srgbClr val="EAEAEA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48132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86968" y="148132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088136" y="148132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13716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analysis.py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1783080"/>
            <a:ext cx="50292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000" dirty="0" err="1"/>
              <a:t>plt.figure</a:t>
            </a:r>
            <a:r>
              <a:rPr lang="en-IN" sz="1000" dirty="0"/>
              <a:t>(</a:t>
            </a:r>
            <a:r>
              <a:rPr lang="en-IN" sz="1000" dirty="0" err="1"/>
              <a:t>figsize</a:t>
            </a:r>
            <a:r>
              <a:rPr lang="en-IN" sz="1000" dirty="0"/>
              <a:t>=(8,5))</a:t>
            </a:r>
          </a:p>
          <a:p>
            <a:r>
              <a:rPr lang="en-IN" sz="1000" dirty="0" err="1"/>
              <a:t>sns.histplot</a:t>
            </a:r>
            <a:r>
              <a:rPr lang="en-IN" sz="1000" dirty="0"/>
              <a:t>(</a:t>
            </a:r>
            <a:r>
              <a:rPr lang="en-IN" sz="1000" dirty="0" err="1"/>
              <a:t>df</a:t>
            </a:r>
            <a:r>
              <a:rPr lang="en-IN" sz="1000" dirty="0"/>
              <a:t>["</a:t>
            </a:r>
            <a:r>
              <a:rPr lang="en-IN" sz="1000" dirty="0" err="1"/>
              <a:t>Price_INR</a:t>
            </a:r>
            <a:r>
              <a:rPr lang="en-IN" sz="1000" dirty="0"/>
              <a:t>"], bins=20, </a:t>
            </a:r>
            <a:r>
              <a:rPr lang="en-IN" sz="1000" dirty="0" err="1"/>
              <a:t>kde</a:t>
            </a:r>
            <a:r>
              <a:rPr lang="en-IN" sz="1000" dirty="0"/>
              <a:t>=True)</a:t>
            </a:r>
          </a:p>
          <a:p>
            <a:r>
              <a:rPr lang="en-IN" sz="1000" dirty="0" err="1"/>
              <a:t>plt.title</a:t>
            </a:r>
            <a:r>
              <a:rPr lang="en-IN" sz="1000" dirty="0"/>
              <a:t>("Distribution of Price ")</a:t>
            </a:r>
          </a:p>
          <a:p>
            <a:r>
              <a:rPr lang="en-IN" sz="1000" dirty="0" err="1"/>
              <a:t>plt.show</a:t>
            </a:r>
            <a:r>
              <a:rPr lang="en-IN" sz="1000" dirty="0"/>
              <a:t>() # Right Skew</a:t>
            </a:r>
          </a:p>
          <a:p>
            <a:pPr marL="0" indent="0">
              <a:lnSpc>
                <a:spcPts val="1800"/>
              </a:lnSpc>
              <a:buNone/>
            </a:pP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380522" y="695137"/>
            <a:ext cx="6232358" cy="4577025"/>
          </a:xfrm>
          <a:prstGeom prst="rect">
            <a:avLst/>
          </a:prstGeom>
          <a:solidFill>
            <a:srgbClr val="F6F6F6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68745" y="430646"/>
            <a:ext cx="4225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/ Chart :</a:t>
            </a:r>
            <a:endParaRPr lang="en-US" sz="140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F3773FE-ECDA-4B39-810C-2D135B5A981A}"/>
              </a:ext>
            </a:extLst>
          </p:cNvPr>
          <p:cNvGrpSpPr/>
          <p:nvPr/>
        </p:nvGrpSpPr>
        <p:grpSpPr>
          <a:xfrm>
            <a:off x="5380522" y="688409"/>
            <a:ext cx="6232358" cy="326768"/>
            <a:chOff x="5380522" y="991893"/>
            <a:chExt cx="6232358" cy="326768"/>
          </a:xfrm>
        </p:grpSpPr>
        <p:sp>
          <p:nvSpPr>
            <p:cNvPr id="14" name="Shape 12"/>
            <p:cNvSpPr/>
            <p:nvPr/>
          </p:nvSpPr>
          <p:spPr>
            <a:xfrm>
              <a:off x="5380522" y="998621"/>
              <a:ext cx="6232358" cy="320040"/>
            </a:xfrm>
            <a:prstGeom prst="rect">
              <a:avLst/>
            </a:prstGeom>
            <a:solidFill>
              <a:srgbClr val="EAEAEA"/>
            </a:solidFill>
            <a:ln w="12700">
              <a:solidFill>
                <a:srgbClr val="DADADA"/>
              </a:solidFill>
              <a:prstDash val="solid"/>
            </a:ln>
          </p:spPr>
        </p:sp>
        <p:sp>
          <p:nvSpPr>
            <p:cNvPr id="15" name="Shape 13"/>
            <p:cNvSpPr/>
            <p:nvPr/>
          </p:nvSpPr>
          <p:spPr>
            <a:xfrm>
              <a:off x="5550747" y="1101621"/>
              <a:ext cx="116197" cy="100584"/>
            </a:xfrm>
            <a:prstGeom prst="ellipse">
              <a:avLst/>
            </a:prstGeom>
            <a:solidFill>
              <a:srgbClr val="FF5F56"/>
            </a:solidFill>
            <a:ln/>
          </p:spPr>
        </p:sp>
        <p:sp>
          <p:nvSpPr>
            <p:cNvPr id="16" name="Shape 14"/>
            <p:cNvSpPr/>
            <p:nvPr/>
          </p:nvSpPr>
          <p:spPr>
            <a:xfrm>
              <a:off x="5783140" y="1101621"/>
              <a:ext cx="116197" cy="100584"/>
            </a:xfrm>
            <a:prstGeom prst="ellipse">
              <a:avLst/>
            </a:prstGeom>
            <a:solidFill>
              <a:srgbClr val="FFBD2E"/>
            </a:solidFill>
            <a:ln/>
          </p:spPr>
        </p:sp>
        <p:sp>
          <p:nvSpPr>
            <p:cNvPr id="17" name="Shape 15"/>
            <p:cNvSpPr/>
            <p:nvPr/>
          </p:nvSpPr>
          <p:spPr>
            <a:xfrm>
              <a:off x="6015533" y="1101621"/>
              <a:ext cx="116197" cy="100584"/>
            </a:xfrm>
            <a:prstGeom prst="ellipse">
              <a:avLst/>
            </a:prstGeom>
            <a:solidFill>
              <a:srgbClr val="27C93F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6448630" y="991893"/>
              <a:ext cx="49647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88888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output</a:t>
              </a:r>
              <a:endParaRPr lang="en-US" sz="1000" dirty="0"/>
            </a:p>
          </p:txBody>
        </p:sp>
      </p:grpSp>
      <p:sp>
        <p:nvSpPr>
          <p:cNvPr id="19" name="Text 17"/>
          <p:cNvSpPr/>
          <p:nvPr/>
        </p:nvSpPr>
        <p:spPr>
          <a:xfrm>
            <a:off x="6492240" y="178308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paste your chart / output screenshot here ]</a:t>
            </a:r>
            <a:endParaRPr lang="en-US" sz="12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4702E3E-8F4C-4769-957E-0D62CAA34A88}"/>
              </a:ext>
            </a:extLst>
          </p:cNvPr>
          <p:cNvGrpSpPr/>
          <p:nvPr/>
        </p:nvGrpSpPr>
        <p:grpSpPr>
          <a:xfrm>
            <a:off x="548640" y="5102352"/>
            <a:ext cx="11064240" cy="1920240"/>
            <a:chOff x="548640" y="3931920"/>
            <a:chExt cx="11064240" cy="1920240"/>
          </a:xfrm>
        </p:grpSpPr>
        <p:sp>
          <p:nvSpPr>
            <p:cNvPr id="20" name="Text 18"/>
            <p:cNvSpPr/>
            <p:nvPr/>
          </p:nvSpPr>
          <p:spPr>
            <a:xfrm>
              <a:off x="548640" y="3931920"/>
              <a:ext cx="27432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E01F2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Key Insight :-</a:t>
              </a:r>
              <a:endParaRPr lang="en-US" sz="14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548640" y="4279392"/>
              <a:ext cx="11064240" cy="822960"/>
            </a:xfrm>
            <a:prstGeom prst="rect">
              <a:avLst/>
            </a:prstGeom>
            <a:solidFill>
              <a:srgbClr val="FBF2F2"/>
            </a:solidFill>
            <a:ln w="12700">
              <a:solidFill>
                <a:srgbClr val="F0D6D6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777240" y="4389120"/>
              <a:ext cx="10607040" cy="14630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IN" sz="1600" dirty="0"/>
                <a:t>The bike market is largely concentrated in the lower-to-mid price segment, with relatively fewer premium-priced models</a:t>
              </a:r>
              <a:r>
                <a:rPr lang="en-IN" sz="1400" dirty="0"/>
                <a:t>.</a:t>
              </a:r>
              <a:endParaRPr lang="en-US" sz="1350" dirty="0"/>
            </a:p>
          </p:txBody>
        </p:sp>
      </p:grpSp>
      <p:pic>
        <p:nvPicPr>
          <p:cNvPr id="23" name="Image 0" descr="inno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7352" y="6450446"/>
            <a:ext cx="1051560" cy="15152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816FBA0-E181-66B2-6C64-9AEAF0C282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0087" y="1097271"/>
            <a:ext cx="6131291" cy="404165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5760720"/>
            <a:ext cx="2011680" cy="2011680"/>
          </a:xfrm>
          <a:prstGeom prst="ellipse">
            <a:avLst/>
          </a:prstGeom>
          <a:solidFill>
            <a:srgbClr val="E01F26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900" b="1" dirty="0">
                <a:solidFill>
                  <a:srgbClr val="E0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Q2. </a:t>
            </a:r>
            <a:r>
              <a:rPr lang="en-IN" sz="2000" dirty="0">
                <a:solidFill>
                  <a:srgbClr val="FF0000"/>
                </a:solidFill>
              </a:rPr>
              <a:t>Brand Market Presence</a:t>
            </a:r>
            <a:r>
              <a:rPr lang="en-US" sz="19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</a:t>
            </a:r>
            <a:r>
              <a:rPr lang="en-IN" sz="2000" dirty="0">
                <a:solidFill>
                  <a:srgbClr val="FF0000"/>
                </a:solidFill>
              </a:rPr>
              <a:t>Which brands have the highest number of bike models in the dataset?</a:t>
            </a:r>
            <a:endParaRPr lang="en-US" sz="1900" dirty="0">
              <a:solidFill>
                <a:srgbClr val="FF00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394960" cy="2331720"/>
          </a:xfrm>
          <a:prstGeom prst="rect">
            <a:avLst/>
          </a:prstGeom>
          <a:solidFill>
            <a:srgbClr val="F6F6F6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5394960" cy="320040"/>
          </a:xfrm>
          <a:prstGeom prst="rect">
            <a:avLst/>
          </a:prstGeom>
          <a:solidFill>
            <a:srgbClr val="EAEAEA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48132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86968" y="148132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088136" y="148132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13716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analysis.py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1783080"/>
            <a:ext cx="50292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200" dirty="0" err="1"/>
              <a:t>plt.figure</a:t>
            </a:r>
            <a:r>
              <a:rPr lang="en-IN" sz="1200" dirty="0"/>
              <a:t>(</a:t>
            </a:r>
            <a:r>
              <a:rPr lang="en-IN" sz="1200" dirty="0" err="1"/>
              <a:t>figsize</a:t>
            </a:r>
            <a:r>
              <a:rPr lang="en-IN" sz="1200" dirty="0"/>
              <a:t>=(10,5))</a:t>
            </a:r>
          </a:p>
          <a:p>
            <a:r>
              <a:rPr lang="en-IN" sz="1200" dirty="0" err="1"/>
              <a:t>sns.countplot</a:t>
            </a:r>
            <a:r>
              <a:rPr lang="en-IN" sz="1200" dirty="0"/>
              <a:t>(</a:t>
            </a:r>
          </a:p>
          <a:p>
            <a:r>
              <a:rPr lang="en-IN" sz="1200" dirty="0"/>
              <a:t>    data=</a:t>
            </a:r>
            <a:r>
              <a:rPr lang="en-IN" sz="1200" dirty="0" err="1"/>
              <a:t>df</a:t>
            </a:r>
            <a:r>
              <a:rPr lang="en-IN" sz="1200" dirty="0"/>
              <a:t>,</a:t>
            </a:r>
          </a:p>
          <a:p>
            <a:r>
              <a:rPr lang="en-IN" sz="1200" dirty="0"/>
              <a:t>    x="</a:t>
            </a:r>
            <a:r>
              <a:rPr lang="en-IN" sz="1200" dirty="0" err="1"/>
              <a:t>Brand_fixed</a:t>
            </a:r>
            <a:r>
              <a:rPr lang="en-IN" sz="1200" dirty="0"/>
              <a:t>",</a:t>
            </a:r>
          </a:p>
          <a:p>
            <a:r>
              <a:rPr lang="en-IN" sz="1200" dirty="0"/>
              <a:t>    order=</a:t>
            </a:r>
            <a:r>
              <a:rPr lang="en-IN" sz="1200" dirty="0" err="1"/>
              <a:t>df</a:t>
            </a:r>
            <a:r>
              <a:rPr lang="en-IN" sz="1200" dirty="0"/>
              <a:t>["</a:t>
            </a:r>
            <a:r>
              <a:rPr lang="en-IN" sz="1200" dirty="0" err="1"/>
              <a:t>Brand_fixed</a:t>
            </a:r>
            <a:r>
              <a:rPr lang="en-IN" sz="1200" dirty="0"/>
              <a:t>"].</a:t>
            </a:r>
            <a:r>
              <a:rPr lang="en-IN" sz="1200" dirty="0" err="1"/>
              <a:t>value_counts</a:t>
            </a:r>
            <a:r>
              <a:rPr lang="en-IN" sz="1200" dirty="0"/>
              <a:t>().index</a:t>
            </a:r>
          </a:p>
          <a:p>
            <a:r>
              <a:rPr lang="en-IN" sz="1200" dirty="0"/>
              <a:t>)</a:t>
            </a:r>
          </a:p>
          <a:p>
            <a:r>
              <a:rPr lang="en-IN" sz="1200" dirty="0" err="1"/>
              <a:t>plt.xticks</a:t>
            </a:r>
            <a:r>
              <a:rPr lang="en-IN" sz="1200" dirty="0"/>
              <a:t>(rotation=45)</a:t>
            </a:r>
          </a:p>
          <a:p>
            <a:r>
              <a:rPr lang="en-IN" sz="1200" dirty="0" err="1"/>
              <a:t>plt.title</a:t>
            </a:r>
            <a:r>
              <a:rPr lang="en-IN" sz="1200" dirty="0"/>
              <a:t>("Bike Count by Brand")</a:t>
            </a:r>
          </a:p>
          <a:p>
            <a:r>
              <a:rPr lang="en-IN" sz="1200" dirty="0" err="1"/>
              <a:t>plt.show</a:t>
            </a:r>
            <a:r>
              <a:rPr lang="en-IN" sz="1200" dirty="0"/>
              <a:t>()</a:t>
            </a:r>
          </a:p>
          <a:p>
            <a:pPr marL="0" indent="0">
              <a:lnSpc>
                <a:spcPts val="1800"/>
              </a:lnSpc>
              <a:buNone/>
            </a:pP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217920" y="764727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/ Chart :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1061907"/>
            <a:ext cx="5394960" cy="4400987"/>
          </a:xfrm>
          <a:prstGeom prst="rect">
            <a:avLst/>
          </a:prstGeom>
          <a:solidFill>
            <a:srgbClr val="F6F6F6"/>
          </a:solidFill>
          <a:ln w="12700">
            <a:solidFill>
              <a:srgbClr val="DADADA"/>
            </a:solidFill>
            <a:prstDash val="solid"/>
          </a:ln>
        </p:spPr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68DD04A-B18C-470F-BFCF-C15C3205D2DF}"/>
              </a:ext>
            </a:extLst>
          </p:cNvPr>
          <p:cNvGrpSpPr/>
          <p:nvPr/>
        </p:nvGrpSpPr>
        <p:grpSpPr>
          <a:xfrm>
            <a:off x="6217920" y="1061907"/>
            <a:ext cx="5394960" cy="320040"/>
            <a:chOff x="6217920" y="1371600"/>
            <a:chExt cx="5394960" cy="320040"/>
          </a:xfrm>
        </p:grpSpPr>
        <p:sp>
          <p:nvSpPr>
            <p:cNvPr id="14" name="Shape 12"/>
            <p:cNvSpPr/>
            <p:nvPr/>
          </p:nvSpPr>
          <p:spPr>
            <a:xfrm>
              <a:off x="6217920" y="1371600"/>
              <a:ext cx="5394960" cy="320040"/>
            </a:xfrm>
            <a:prstGeom prst="rect">
              <a:avLst/>
            </a:prstGeom>
            <a:solidFill>
              <a:srgbClr val="EAEAEA"/>
            </a:solidFill>
            <a:ln w="12700">
              <a:solidFill>
                <a:srgbClr val="DADADA"/>
              </a:solidFill>
              <a:prstDash val="solid"/>
            </a:ln>
          </p:spPr>
        </p:sp>
        <p:sp>
          <p:nvSpPr>
            <p:cNvPr id="15" name="Shape 13"/>
            <p:cNvSpPr/>
            <p:nvPr/>
          </p:nvSpPr>
          <p:spPr>
            <a:xfrm>
              <a:off x="6355080" y="1481328"/>
              <a:ext cx="100584" cy="100584"/>
            </a:xfrm>
            <a:prstGeom prst="ellipse">
              <a:avLst/>
            </a:prstGeom>
            <a:solidFill>
              <a:srgbClr val="FF5F56"/>
            </a:solidFill>
            <a:ln/>
          </p:spPr>
        </p:sp>
        <p:sp>
          <p:nvSpPr>
            <p:cNvPr id="16" name="Shape 14"/>
            <p:cNvSpPr/>
            <p:nvPr/>
          </p:nvSpPr>
          <p:spPr>
            <a:xfrm>
              <a:off x="6556248" y="1481328"/>
              <a:ext cx="100584" cy="100584"/>
            </a:xfrm>
            <a:prstGeom prst="ellipse">
              <a:avLst/>
            </a:prstGeom>
            <a:solidFill>
              <a:srgbClr val="FFBD2E"/>
            </a:solidFill>
            <a:ln/>
          </p:spPr>
        </p:sp>
        <p:sp>
          <p:nvSpPr>
            <p:cNvPr id="17" name="Shape 15"/>
            <p:cNvSpPr/>
            <p:nvPr/>
          </p:nvSpPr>
          <p:spPr>
            <a:xfrm>
              <a:off x="6757416" y="1481328"/>
              <a:ext cx="100584" cy="100584"/>
            </a:xfrm>
            <a:prstGeom prst="ellipse">
              <a:avLst/>
            </a:prstGeom>
            <a:solidFill>
              <a:srgbClr val="27C93F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7132320" y="1371600"/>
              <a:ext cx="42976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88888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output</a:t>
              </a:r>
              <a:endParaRPr lang="en-US" sz="1000" dirty="0"/>
            </a:p>
          </p:txBody>
        </p:sp>
      </p:grpSp>
      <p:sp>
        <p:nvSpPr>
          <p:cNvPr id="19" name="Text 17"/>
          <p:cNvSpPr/>
          <p:nvPr/>
        </p:nvSpPr>
        <p:spPr>
          <a:xfrm>
            <a:off x="6492240" y="178308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paste your chart / output screenshot here ]</a:t>
            </a:r>
            <a:endParaRPr lang="en-US" sz="12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8DECA82-38F5-44C0-97E2-1FE989E180E2}"/>
              </a:ext>
            </a:extLst>
          </p:cNvPr>
          <p:cNvGrpSpPr/>
          <p:nvPr/>
        </p:nvGrpSpPr>
        <p:grpSpPr>
          <a:xfrm>
            <a:off x="563880" y="5252582"/>
            <a:ext cx="11064240" cy="1060704"/>
            <a:chOff x="548640" y="3931920"/>
            <a:chExt cx="11064240" cy="1060704"/>
          </a:xfrm>
        </p:grpSpPr>
        <p:sp>
          <p:nvSpPr>
            <p:cNvPr id="20" name="Text 18"/>
            <p:cNvSpPr/>
            <p:nvPr/>
          </p:nvSpPr>
          <p:spPr>
            <a:xfrm>
              <a:off x="548640" y="3931920"/>
              <a:ext cx="27432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E01F2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Key Insight :-</a:t>
              </a:r>
              <a:endParaRPr lang="en-US" sz="14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548640" y="4279392"/>
              <a:ext cx="11064240" cy="713232"/>
            </a:xfrm>
            <a:prstGeom prst="rect">
              <a:avLst/>
            </a:prstGeom>
            <a:solidFill>
              <a:srgbClr val="FBF2F2"/>
            </a:solidFill>
            <a:ln w="12700">
              <a:solidFill>
                <a:srgbClr val="F0D6D6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871728" y="4389120"/>
              <a:ext cx="10512552" cy="493776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IN" b="1" dirty="0"/>
                <a:t>Hero has the highest number of bike models in the dataset, indicating the strongest product presence among the </a:t>
              </a:r>
              <a:r>
                <a:rPr lang="en-IN" b="1" dirty="0" err="1"/>
                <a:t>analyzed</a:t>
              </a:r>
              <a:r>
                <a:rPr lang="en-IN" b="1" dirty="0"/>
                <a:t> brands.</a:t>
              </a:r>
              <a:endParaRPr lang="en-US" b="1" dirty="0"/>
            </a:p>
          </p:txBody>
        </p:sp>
      </p:grpSp>
      <p:pic>
        <p:nvPicPr>
          <p:cNvPr id="23" name="Image 0" descr="inno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7352" y="6450446"/>
            <a:ext cx="1051560" cy="15152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C8E3ABB-DCC1-FD7B-A3E3-F56949D63E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443" y="1450527"/>
            <a:ext cx="5120958" cy="409586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5760720"/>
            <a:ext cx="2011680" cy="2011680"/>
          </a:xfrm>
          <a:prstGeom prst="ellipse">
            <a:avLst/>
          </a:prstGeom>
          <a:solidFill>
            <a:srgbClr val="E01F26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-1828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9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Q3. </a:t>
            </a:r>
            <a:r>
              <a:rPr lang="en-IN" sz="2000" dirty="0">
                <a:solidFill>
                  <a:srgbClr val="FF0000"/>
                </a:solidFill>
              </a:rPr>
              <a:t>Brand-wise Price Analysis</a:t>
            </a:r>
            <a:r>
              <a:rPr lang="en-US" sz="19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r>
              <a:rPr lang="en-IN" sz="2000" dirty="0">
                <a:solidFill>
                  <a:srgbClr val="FF0000"/>
                </a:solidFill>
              </a:rPr>
              <a:t>Which brands have the highest average bike prices?</a:t>
            </a:r>
            <a:endParaRPr lang="en-US" sz="1900" dirty="0">
              <a:solidFill>
                <a:srgbClr val="FF00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508273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:</a:t>
            </a:r>
            <a:endParaRPr lang="en-US" sz="14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14F7D1F-5F99-4B1F-9E1F-4429CFC0333D}"/>
              </a:ext>
            </a:extLst>
          </p:cNvPr>
          <p:cNvGrpSpPr/>
          <p:nvPr/>
        </p:nvGrpSpPr>
        <p:grpSpPr>
          <a:xfrm>
            <a:off x="529687" y="751369"/>
            <a:ext cx="5212080" cy="2331720"/>
            <a:chOff x="548640" y="1371600"/>
            <a:chExt cx="5394960" cy="2331720"/>
          </a:xfrm>
        </p:grpSpPr>
        <p:sp>
          <p:nvSpPr>
            <p:cNvPr id="5" name="Shape 3"/>
            <p:cNvSpPr/>
            <p:nvPr/>
          </p:nvSpPr>
          <p:spPr>
            <a:xfrm>
              <a:off x="548640" y="1371600"/>
              <a:ext cx="5394960" cy="2331720"/>
            </a:xfrm>
            <a:prstGeom prst="rect">
              <a:avLst/>
            </a:prstGeom>
            <a:solidFill>
              <a:srgbClr val="F6F6F6"/>
            </a:solidFill>
            <a:ln w="12700">
              <a:solidFill>
                <a:srgbClr val="DADADA"/>
              </a:solidFill>
              <a:prstDash val="solid"/>
            </a:ln>
          </p:spPr>
        </p:sp>
        <p:sp>
          <p:nvSpPr>
            <p:cNvPr id="6" name="Shape 4"/>
            <p:cNvSpPr/>
            <p:nvPr/>
          </p:nvSpPr>
          <p:spPr>
            <a:xfrm>
              <a:off x="548640" y="1371600"/>
              <a:ext cx="5394960" cy="320040"/>
            </a:xfrm>
            <a:prstGeom prst="rect">
              <a:avLst/>
            </a:prstGeom>
            <a:solidFill>
              <a:srgbClr val="EAEAEA"/>
            </a:solidFill>
            <a:ln w="12700">
              <a:solidFill>
                <a:srgbClr val="DADADA"/>
              </a:solidFill>
              <a:prstDash val="solid"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685800" y="1481328"/>
              <a:ext cx="100584" cy="100584"/>
            </a:xfrm>
            <a:prstGeom prst="ellipse">
              <a:avLst/>
            </a:prstGeom>
            <a:solidFill>
              <a:srgbClr val="FF5F56"/>
            </a:solidFill>
            <a:ln/>
          </p:spPr>
        </p:sp>
        <p:sp>
          <p:nvSpPr>
            <p:cNvPr id="8" name="Shape 6"/>
            <p:cNvSpPr/>
            <p:nvPr/>
          </p:nvSpPr>
          <p:spPr>
            <a:xfrm>
              <a:off x="886968" y="1481328"/>
              <a:ext cx="100584" cy="100584"/>
            </a:xfrm>
            <a:prstGeom prst="ellipse">
              <a:avLst/>
            </a:prstGeom>
            <a:solidFill>
              <a:srgbClr val="FFBD2E"/>
            </a:solidFill>
            <a:ln/>
          </p:spPr>
        </p:sp>
        <p:sp>
          <p:nvSpPr>
            <p:cNvPr id="9" name="Shape 7"/>
            <p:cNvSpPr/>
            <p:nvPr/>
          </p:nvSpPr>
          <p:spPr>
            <a:xfrm>
              <a:off x="1088136" y="1481328"/>
              <a:ext cx="100584" cy="100584"/>
            </a:xfrm>
            <a:prstGeom prst="ellipse">
              <a:avLst/>
            </a:prstGeom>
            <a:solidFill>
              <a:srgbClr val="27C93F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1463040" y="1371600"/>
              <a:ext cx="42976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88888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analysis.py</a:t>
              </a:r>
              <a:endParaRPr lang="en-US" sz="10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731520" y="1783080"/>
              <a:ext cx="5029200" cy="178308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lnSpc>
                  <a:spcPts val="1800"/>
                </a:lnSpc>
                <a:buNone/>
              </a:pPr>
              <a:endParaRPr lang="en-US" sz="1250" dirty="0"/>
            </a:p>
          </p:txBody>
        </p:sp>
      </p:grpSp>
      <p:sp>
        <p:nvSpPr>
          <p:cNvPr id="12" name="Text 10"/>
          <p:cNvSpPr/>
          <p:nvPr/>
        </p:nvSpPr>
        <p:spPr>
          <a:xfrm>
            <a:off x="5833854" y="439344"/>
            <a:ext cx="3877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/ Chart :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833852" y="739704"/>
            <a:ext cx="5719649" cy="4009794"/>
          </a:xfrm>
          <a:prstGeom prst="rect">
            <a:avLst/>
          </a:prstGeom>
          <a:solidFill>
            <a:srgbClr val="F6F6F6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33853" y="751369"/>
            <a:ext cx="6358147" cy="361176"/>
          </a:xfrm>
          <a:prstGeom prst="rect">
            <a:avLst/>
          </a:prstGeom>
          <a:solidFill>
            <a:srgbClr val="EAEAEA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79269" y="889750"/>
            <a:ext cx="106638" cy="118537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6" name="Shape 14"/>
          <p:cNvSpPr/>
          <p:nvPr/>
        </p:nvSpPr>
        <p:spPr>
          <a:xfrm>
            <a:off x="6156004" y="889750"/>
            <a:ext cx="106638" cy="118537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7" name="Shape 15"/>
          <p:cNvSpPr/>
          <p:nvPr/>
        </p:nvSpPr>
        <p:spPr>
          <a:xfrm>
            <a:off x="6352500" y="889750"/>
            <a:ext cx="106638" cy="118537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8" name="Text 16"/>
          <p:cNvSpPr/>
          <p:nvPr/>
        </p:nvSpPr>
        <p:spPr>
          <a:xfrm>
            <a:off x="6477945" y="715707"/>
            <a:ext cx="4556331" cy="4613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92240" y="178308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paste your chart / output screenshot here ]</a:t>
            </a:r>
            <a:endParaRPr lang="en-US" sz="120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46CFA5D-7F6D-4481-AF2F-11FA45D4FA33}"/>
              </a:ext>
            </a:extLst>
          </p:cNvPr>
          <p:cNvGrpSpPr/>
          <p:nvPr/>
        </p:nvGrpSpPr>
        <p:grpSpPr>
          <a:xfrm>
            <a:off x="489262" y="4520898"/>
            <a:ext cx="10835640" cy="1920239"/>
            <a:chOff x="548640" y="3931920"/>
            <a:chExt cx="10835640" cy="1920239"/>
          </a:xfrm>
        </p:grpSpPr>
        <p:sp>
          <p:nvSpPr>
            <p:cNvPr id="20" name="Text 18"/>
            <p:cNvSpPr/>
            <p:nvPr/>
          </p:nvSpPr>
          <p:spPr>
            <a:xfrm>
              <a:off x="548640" y="3931920"/>
              <a:ext cx="27432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E01F2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Key Insight :-</a:t>
              </a:r>
              <a:endParaRPr lang="en-US" sz="14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777240" y="4595282"/>
              <a:ext cx="10607040" cy="1256877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US" b="1" dirty="0">
                  <a:solidFill>
                    <a:srgbClr val="000000"/>
                  </a:solidFill>
                  <a:latin typeface="Arial" pitchFamily="34" charset="0"/>
                  <a:cs typeface="Arial" pitchFamily="34" charset="-120"/>
                </a:rPr>
                <a:t>Harley Davidson </a:t>
              </a:r>
              <a:r>
                <a:rPr lang="en-IN" b="1" dirty="0"/>
                <a:t>has the highest average bike price among the </a:t>
              </a:r>
              <a:r>
                <a:rPr lang="en-IN" b="1" dirty="0" err="1"/>
                <a:t>analyzed</a:t>
              </a:r>
              <a:r>
                <a:rPr lang="en-IN" b="1" dirty="0"/>
                <a:t> brands, indicating a stronger presence in the premium-price segment.</a:t>
              </a:r>
              <a:endParaRPr lang="en-US" b="1" dirty="0"/>
            </a:p>
          </p:txBody>
        </p:sp>
      </p:grpSp>
      <p:pic>
        <p:nvPicPr>
          <p:cNvPr id="23" name="Image 0" descr="inno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7352" y="6450446"/>
            <a:ext cx="1051560" cy="15152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ECE0E46-665D-DEE3-1DF3-33E957FD47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6153" y="1260958"/>
            <a:ext cx="5986114" cy="383944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BB22E8BA-1B2F-6AF8-A30E-5359226F22E3}"/>
              </a:ext>
            </a:extLst>
          </p:cNvPr>
          <p:cNvSpPr txBox="1"/>
          <p:nvPr/>
        </p:nvSpPr>
        <p:spPr>
          <a:xfrm>
            <a:off x="529687" y="1225296"/>
            <a:ext cx="8395043" cy="2062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200" b="1" dirty="0" err="1">
                <a:effectLst/>
                <a:latin typeface="Courier New" panose="02070309020205020404" pitchFamily="49" charset="0"/>
              </a:rPr>
              <a:t>plt.figure</a:t>
            </a:r>
            <a:r>
              <a:rPr lang="en-IN" sz="1200" b="1" dirty="0">
                <a:effectLst/>
                <a:latin typeface="Courier New" panose="02070309020205020404" pitchFamily="49" charset="0"/>
              </a:rPr>
              <a:t>(</a:t>
            </a:r>
            <a:r>
              <a:rPr lang="en-IN" sz="1200" b="1" dirty="0" err="1">
                <a:effectLst/>
                <a:latin typeface="Courier New" panose="02070309020205020404" pitchFamily="49" charset="0"/>
              </a:rPr>
              <a:t>figsize</a:t>
            </a:r>
            <a:r>
              <a:rPr lang="en-IN" sz="1200" b="1" dirty="0">
                <a:effectLst/>
                <a:latin typeface="Courier New" panose="02070309020205020404" pitchFamily="49" charset="0"/>
              </a:rPr>
              <a:t>=(12,6))</a:t>
            </a:r>
          </a:p>
          <a:p>
            <a:pPr>
              <a:lnSpc>
                <a:spcPts val="1425"/>
              </a:lnSpc>
              <a:buNone/>
            </a:pPr>
            <a:r>
              <a:rPr lang="en-IN" sz="1200" b="1" dirty="0" err="1">
                <a:effectLst/>
                <a:latin typeface="Courier New" panose="02070309020205020404" pitchFamily="49" charset="0"/>
              </a:rPr>
              <a:t>sns.barplot</a:t>
            </a:r>
            <a:r>
              <a:rPr lang="en-IN" sz="1200" b="1" dirty="0">
                <a:effectLst/>
                <a:latin typeface="Courier New" panose="020703090202050204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IN" sz="1200" b="1" dirty="0">
                <a:effectLst/>
                <a:latin typeface="Courier New" panose="02070309020205020404" pitchFamily="49" charset="0"/>
              </a:rPr>
              <a:t>    data=</a:t>
            </a:r>
            <a:r>
              <a:rPr lang="en-IN" sz="1200" b="1" dirty="0" err="1">
                <a:effectLst/>
                <a:latin typeface="Courier New" panose="02070309020205020404" pitchFamily="49" charset="0"/>
              </a:rPr>
              <a:t>df</a:t>
            </a:r>
            <a:r>
              <a:rPr lang="en-IN" sz="1200" b="1" dirty="0">
                <a:effectLst/>
                <a:latin typeface="Courier New" panose="020703090202050204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200" b="1" dirty="0">
                <a:effectLst/>
                <a:latin typeface="Courier New" panose="02070309020205020404" pitchFamily="49" charset="0"/>
              </a:rPr>
              <a:t>    x="</a:t>
            </a:r>
            <a:r>
              <a:rPr lang="en-IN" sz="1200" b="1" dirty="0" err="1">
                <a:effectLst/>
                <a:latin typeface="Courier New" panose="02070309020205020404" pitchFamily="49" charset="0"/>
              </a:rPr>
              <a:t>Brand_fixed</a:t>
            </a:r>
            <a:r>
              <a:rPr lang="en-IN" sz="1200" b="1" dirty="0">
                <a:effectLst/>
                <a:latin typeface="Courier New" panose="02070309020205020404" pitchFamily="49" charset="0"/>
              </a:rPr>
              <a:t>",</a:t>
            </a:r>
          </a:p>
          <a:p>
            <a:pPr>
              <a:lnSpc>
                <a:spcPts val="1425"/>
              </a:lnSpc>
              <a:buNone/>
            </a:pPr>
            <a:r>
              <a:rPr lang="en-IN" sz="1200" b="1" dirty="0">
                <a:effectLst/>
                <a:latin typeface="Courier New" panose="02070309020205020404" pitchFamily="49" charset="0"/>
              </a:rPr>
              <a:t>    y="</a:t>
            </a:r>
            <a:r>
              <a:rPr lang="en-IN" sz="1200" b="1" dirty="0" err="1">
                <a:effectLst/>
                <a:latin typeface="Courier New" panose="02070309020205020404" pitchFamily="49" charset="0"/>
              </a:rPr>
              <a:t>Price_INR</a:t>
            </a:r>
            <a:r>
              <a:rPr lang="en-IN" sz="1200" b="1" dirty="0">
                <a:effectLst/>
                <a:latin typeface="Courier New" panose="02070309020205020404" pitchFamily="49" charset="0"/>
              </a:rPr>
              <a:t>",</a:t>
            </a:r>
          </a:p>
          <a:p>
            <a:pPr>
              <a:lnSpc>
                <a:spcPts val="1425"/>
              </a:lnSpc>
              <a:buNone/>
            </a:pPr>
            <a:r>
              <a:rPr lang="en-IN" sz="1200" b="1" dirty="0">
                <a:effectLst/>
                <a:latin typeface="Courier New" panose="02070309020205020404" pitchFamily="49" charset="0"/>
              </a:rPr>
              <a:t>    estimator="mean",</a:t>
            </a:r>
          </a:p>
          <a:p>
            <a:pPr>
              <a:lnSpc>
                <a:spcPts val="1425"/>
              </a:lnSpc>
              <a:buNone/>
            </a:pPr>
            <a:r>
              <a:rPr lang="en-IN" sz="1200" b="1" dirty="0">
                <a:effectLst/>
                <a:latin typeface="Courier New" panose="02070309020205020404" pitchFamily="49" charset="0"/>
              </a:rPr>
              <a:t>    </a:t>
            </a:r>
            <a:r>
              <a:rPr lang="en-IN" sz="1200" b="1" dirty="0" err="1">
                <a:effectLst/>
                <a:latin typeface="Courier New" panose="02070309020205020404" pitchFamily="49" charset="0"/>
              </a:rPr>
              <a:t>errorbar</a:t>
            </a:r>
            <a:r>
              <a:rPr lang="en-IN" sz="1200" b="1" dirty="0">
                <a:effectLst/>
                <a:latin typeface="Courier New" panose="02070309020205020404" pitchFamily="49" charset="0"/>
              </a:rPr>
              <a:t>=None</a:t>
            </a:r>
          </a:p>
          <a:p>
            <a:pPr>
              <a:lnSpc>
                <a:spcPts val="1425"/>
              </a:lnSpc>
              <a:buNone/>
            </a:pPr>
            <a:r>
              <a:rPr lang="en-IN" sz="1200" b="1" dirty="0"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1200" b="1" dirty="0" err="1">
                <a:effectLst/>
                <a:latin typeface="Courier New" panose="02070309020205020404" pitchFamily="49" charset="0"/>
              </a:rPr>
              <a:t>plt.xticks</a:t>
            </a:r>
            <a:r>
              <a:rPr lang="en-IN" sz="1200" b="1" dirty="0">
                <a:effectLst/>
                <a:latin typeface="Courier New" panose="02070309020205020404" pitchFamily="49" charset="0"/>
              </a:rPr>
              <a:t>(rotation=45)</a:t>
            </a:r>
          </a:p>
          <a:p>
            <a:pPr>
              <a:lnSpc>
                <a:spcPts val="1425"/>
              </a:lnSpc>
              <a:buNone/>
            </a:pPr>
            <a:r>
              <a:rPr lang="en-IN" sz="1200" b="1" dirty="0" err="1">
                <a:effectLst/>
                <a:latin typeface="Courier New" panose="02070309020205020404" pitchFamily="49" charset="0"/>
              </a:rPr>
              <a:t>plt.title</a:t>
            </a:r>
            <a:r>
              <a:rPr lang="en-IN" sz="1200" b="1" dirty="0">
                <a:effectLst/>
                <a:latin typeface="Courier New" panose="02070309020205020404" pitchFamily="49" charset="0"/>
              </a:rPr>
              <a:t>("Average Price by Brand“)</a:t>
            </a:r>
          </a:p>
          <a:p>
            <a:pPr>
              <a:lnSpc>
                <a:spcPts val="1425"/>
              </a:lnSpc>
              <a:buNone/>
            </a:pPr>
            <a:r>
              <a:rPr lang="en-IN" sz="1200" b="1" dirty="0" err="1">
                <a:effectLst/>
                <a:latin typeface="Courier New" panose="02070309020205020404" pitchFamily="49" charset="0"/>
              </a:rPr>
              <a:t>plt.show</a:t>
            </a:r>
            <a:r>
              <a:rPr lang="en-IN" sz="1200" b="1" dirty="0">
                <a:effectLst/>
                <a:latin typeface="Courier New" panose="02070309020205020404" pitchFamily="49" charset="0"/>
              </a:rPr>
              <a:t>()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5760720"/>
            <a:ext cx="2011680" cy="2011680"/>
          </a:xfrm>
          <a:prstGeom prst="ellipse">
            <a:avLst/>
          </a:prstGeom>
          <a:solidFill>
            <a:srgbClr val="E01F26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41961" y="9917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9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Q4. </a:t>
            </a:r>
            <a:r>
              <a:rPr lang="en-IN" sz="2000" dirty="0">
                <a:solidFill>
                  <a:srgbClr val="FF0000"/>
                </a:solidFill>
              </a:rPr>
              <a:t>Front Brake Distribution - Which front braking system is most commonly used among the bikes?</a:t>
            </a:r>
            <a:endParaRPr lang="en-US" sz="1900" dirty="0">
              <a:solidFill>
                <a:srgbClr val="FF00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599"/>
            <a:ext cx="5394960" cy="2845837"/>
          </a:xfrm>
          <a:prstGeom prst="rect">
            <a:avLst/>
          </a:prstGeom>
          <a:solidFill>
            <a:srgbClr val="F6F6F6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r>
              <a:rPr lang="en-IN" dirty="0" err="1"/>
              <a:t>df</a:t>
            </a:r>
            <a:r>
              <a:rPr lang="en-IN" dirty="0"/>
              <a:t>["</a:t>
            </a:r>
            <a:r>
              <a:rPr lang="en-IN" dirty="0" err="1"/>
              <a:t>Front_Brake</a:t>
            </a:r>
            <a:r>
              <a:rPr lang="en-IN" dirty="0"/>
              <a:t>"].</a:t>
            </a:r>
            <a:r>
              <a:rPr lang="en-IN" dirty="0" err="1"/>
              <a:t>value_counts</a:t>
            </a:r>
            <a:r>
              <a:rPr lang="en-IN" dirty="0"/>
              <a:t>().plot(</a:t>
            </a:r>
          </a:p>
          <a:p>
            <a:r>
              <a:rPr lang="en-IN" dirty="0" err="1"/>
              <a:t>df</a:t>
            </a:r>
            <a:r>
              <a:rPr lang="en-IN" dirty="0"/>
              <a:t>["</a:t>
            </a:r>
            <a:r>
              <a:rPr lang="en-IN" dirty="0" err="1"/>
              <a:t>Front_Brake</a:t>
            </a:r>
            <a:r>
              <a:rPr lang="en-IN" dirty="0"/>
              <a:t>"].</a:t>
            </a:r>
            <a:r>
              <a:rPr lang="en-IN" dirty="0" err="1"/>
              <a:t>value_counts</a:t>
            </a:r>
            <a:r>
              <a:rPr lang="en-IN" dirty="0"/>
              <a:t>().plot(</a:t>
            </a:r>
          </a:p>
          <a:p>
            <a:r>
              <a:rPr lang="en-IN" dirty="0"/>
              <a:t>    kind="pie",</a:t>
            </a:r>
          </a:p>
          <a:p>
            <a:r>
              <a:rPr lang="en-IN" dirty="0"/>
              <a:t>    </a:t>
            </a:r>
            <a:r>
              <a:rPr lang="en-IN" dirty="0" err="1"/>
              <a:t>autopct</a:t>
            </a:r>
            <a:r>
              <a:rPr lang="en-IN" dirty="0"/>
              <a:t>="%1.1f%%",</a:t>
            </a:r>
          </a:p>
          <a:p>
            <a:r>
              <a:rPr lang="en-IN" dirty="0"/>
              <a:t>    </a:t>
            </a:r>
            <a:r>
              <a:rPr lang="en-IN" dirty="0" err="1"/>
              <a:t>figsize</a:t>
            </a:r>
            <a:r>
              <a:rPr lang="en-IN" dirty="0"/>
              <a:t>=(5,5)</a:t>
            </a:r>
          </a:p>
          <a:p>
            <a:r>
              <a:rPr lang="en-IN" dirty="0"/>
              <a:t>)</a:t>
            </a:r>
          </a:p>
          <a:p>
            <a:r>
              <a:rPr lang="en-IN" dirty="0" err="1"/>
              <a:t>plt.ylabel</a:t>
            </a:r>
            <a:r>
              <a:rPr lang="en-IN" dirty="0"/>
              <a:t>("")</a:t>
            </a:r>
          </a:p>
          <a:p>
            <a:r>
              <a:rPr lang="en-IN" dirty="0" err="1"/>
              <a:t>plt.title</a:t>
            </a:r>
            <a:r>
              <a:rPr lang="en-IN" dirty="0"/>
              <a:t>("Front Brake Distribution")</a:t>
            </a:r>
          </a:p>
          <a:p>
            <a:r>
              <a:rPr lang="en-IN" dirty="0" err="1"/>
              <a:t>plt.show</a:t>
            </a:r>
            <a:r>
              <a:rPr lang="en-IN" dirty="0"/>
              <a:t>()</a:t>
            </a:r>
          </a:p>
          <a:p>
            <a:endParaRPr lang="en-IN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394960" cy="320040"/>
          </a:xfrm>
          <a:prstGeom prst="rect">
            <a:avLst/>
          </a:prstGeom>
          <a:solidFill>
            <a:srgbClr val="EAEAEA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48132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86968" y="148132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088136" y="148132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13716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analysis.py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1783080"/>
            <a:ext cx="50292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217920" y="573463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/ Chart :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893503"/>
            <a:ext cx="5394960" cy="4318577"/>
          </a:xfrm>
          <a:prstGeom prst="rect">
            <a:avLst/>
          </a:prstGeom>
          <a:solidFill>
            <a:srgbClr val="F6F6F6"/>
          </a:solidFill>
          <a:ln w="12700">
            <a:solidFill>
              <a:srgbClr val="DADADA"/>
            </a:solidFill>
            <a:prstDash val="solid"/>
          </a:ln>
        </p:spPr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2BD38AB-EA8E-48F8-B67C-C4D239CF60CC}"/>
              </a:ext>
            </a:extLst>
          </p:cNvPr>
          <p:cNvGrpSpPr/>
          <p:nvPr/>
        </p:nvGrpSpPr>
        <p:grpSpPr>
          <a:xfrm>
            <a:off x="6217920" y="893503"/>
            <a:ext cx="5394960" cy="320040"/>
            <a:chOff x="6217920" y="1371600"/>
            <a:chExt cx="5394960" cy="320040"/>
          </a:xfrm>
        </p:grpSpPr>
        <p:sp>
          <p:nvSpPr>
            <p:cNvPr id="14" name="Shape 12"/>
            <p:cNvSpPr/>
            <p:nvPr/>
          </p:nvSpPr>
          <p:spPr>
            <a:xfrm>
              <a:off x="6217920" y="1371600"/>
              <a:ext cx="5394960" cy="320040"/>
            </a:xfrm>
            <a:prstGeom prst="rect">
              <a:avLst/>
            </a:prstGeom>
            <a:solidFill>
              <a:srgbClr val="EAEAEA"/>
            </a:solidFill>
            <a:ln w="12700">
              <a:solidFill>
                <a:srgbClr val="DADADA"/>
              </a:solidFill>
              <a:prstDash val="solid"/>
            </a:ln>
          </p:spPr>
        </p:sp>
        <p:sp>
          <p:nvSpPr>
            <p:cNvPr id="15" name="Shape 13"/>
            <p:cNvSpPr/>
            <p:nvPr/>
          </p:nvSpPr>
          <p:spPr>
            <a:xfrm>
              <a:off x="6355080" y="1481328"/>
              <a:ext cx="100584" cy="100584"/>
            </a:xfrm>
            <a:prstGeom prst="ellipse">
              <a:avLst/>
            </a:prstGeom>
            <a:solidFill>
              <a:srgbClr val="FF5F56"/>
            </a:solidFill>
            <a:ln/>
          </p:spPr>
        </p:sp>
        <p:sp>
          <p:nvSpPr>
            <p:cNvPr id="16" name="Shape 14"/>
            <p:cNvSpPr/>
            <p:nvPr/>
          </p:nvSpPr>
          <p:spPr>
            <a:xfrm>
              <a:off x="6556248" y="1481328"/>
              <a:ext cx="100584" cy="100584"/>
            </a:xfrm>
            <a:prstGeom prst="ellipse">
              <a:avLst/>
            </a:prstGeom>
            <a:solidFill>
              <a:srgbClr val="FFBD2E"/>
            </a:solidFill>
            <a:ln/>
          </p:spPr>
        </p:sp>
        <p:sp>
          <p:nvSpPr>
            <p:cNvPr id="17" name="Shape 15"/>
            <p:cNvSpPr/>
            <p:nvPr/>
          </p:nvSpPr>
          <p:spPr>
            <a:xfrm>
              <a:off x="6757416" y="1481328"/>
              <a:ext cx="100584" cy="100584"/>
            </a:xfrm>
            <a:prstGeom prst="ellipse">
              <a:avLst/>
            </a:prstGeom>
            <a:solidFill>
              <a:srgbClr val="27C93F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7132320" y="1371600"/>
              <a:ext cx="42976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88888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output</a:t>
              </a:r>
              <a:endParaRPr lang="en-US" sz="1000" dirty="0"/>
            </a:p>
          </p:txBody>
        </p:sp>
      </p:grpSp>
      <p:sp>
        <p:nvSpPr>
          <p:cNvPr id="19" name="Text 17"/>
          <p:cNvSpPr/>
          <p:nvPr/>
        </p:nvSpPr>
        <p:spPr>
          <a:xfrm>
            <a:off x="6492240" y="178308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paste your chart / output screenshot here ]</a:t>
            </a:r>
            <a:endParaRPr lang="en-US" sz="12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2401040-91D9-4A0C-A98C-3630DF099BE0}"/>
              </a:ext>
            </a:extLst>
          </p:cNvPr>
          <p:cNvGrpSpPr/>
          <p:nvPr/>
        </p:nvGrpSpPr>
        <p:grpSpPr>
          <a:xfrm>
            <a:off x="563880" y="5047488"/>
            <a:ext cx="11064240" cy="1220078"/>
            <a:chOff x="548640" y="3931920"/>
            <a:chExt cx="11064240" cy="1220078"/>
          </a:xfrm>
        </p:grpSpPr>
        <p:sp>
          <p:nvSpPr>
            <p:cNvPr id="20" name="Text 18"/>
            <p:cNvSpPr/>
            <p:nvPr/>
          </p:nvSpPr>
          <p:spPr>
            <a:xfrm>
              <a:off x="548640" y="3931920"/>
              <a:ext cx="27432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E01F2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Key Insight :-</a:t>
              </a:r>
              <a:endParaRPr lang="en-US" sz="14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548640" y="4279392"/>
              <a:ext cx="11064240" cy="872606"/>
            </a:xfrm>
            <a:prstGeom prst="rect">
              <a:avLst/>
            </a:prstGeom>
            <a:solidFill>
              <a:srgbClr val="FBF2F2"/>
            </a:solidFill>
            <a:ln w="12700">
              <a:solidFill>
                <a:srgbClr val="F0D6D6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777240" y="4389120"/>
              <a:ext cx="10607040" cy="61264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IN" sz="1600" b="1" dirty="0"/>
                <a:t>Disc brakes dominate the dataset, accounting for approximately 57.4% of the </a:t>
              </a:r>
              <a:r>
                <a:rPr lang="en-IN" sz="1600" b="1" dirty="0" err="1"/>
                <a:t>analyzed</a:t>
              </a:r>
              <a:r>
                <a:rPr lang="en-IN" sz="1600" b="1" dirty="0"/>
                <a:t> bikes, indicating their widespread adoption among modern motorcycles.</a:t>
              </a:r>
              <a:endParaRPr lang="en-US" sz="1600" b="1" dirty="0"/>
            </a:p>
          </p:txBody>
        </p:sp>
      </p:grpSp>
      <p:pic>
        <p:nvPicPr>
          <p:cNvPr id="23" name="Image 0" descr="inno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7352" y="6450446"/>
            <a:ext cx="1051560" cy="15152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86CB7BD-5E7C-36A7-7497-ACE947C307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588" y="1344168"/>
            <a:ext cx="3694183" cy="390449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21440" y="-822960"/>
            <a:ext cx="2011680" cy="2011680"/>
          </a:xfrm>
          <a:prstGeom prst="ellipse">
            <a:avLst/>
          </a:prstGeom>
          <a:solidFill>
            <a:srgbClr val="E01F26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9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Q5. </a:t>
            </a:r>
            <a:r>
              <a:rPr lang="en-IN" sz="2000" dirty="0">
                <a:solidFill>
                  <a:srgbClr val="FF0000"/>
                </a:solidFill>
              </a:rPr>
              <a:t>How does bike price vary across different tire types?</a:t>
            </a:r>
            <a:endParaRPr lang="en-US" sz="1900" dirty="0">
              <a:solidFill>
                <a:srgbClr val="FF00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339614" cy="2780522"/>
          </a:xfrm>
          <a:prstGeom prst="rect">
            <a:avLst/>
          </a:prstGeom>
          <a:solidFill>
            <a:srgbClr val="F6F6F6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5394960" cy="320040"/>
          </a:xfrm>
          <a:prstGeom prst="rect">
            <a:avLst/>
          </a:prstGeom>
          <a:solidFill>
            <a:srgbClr val="EAEAEA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48132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86968" y="148132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088136" y="148132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13716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analysis.py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1783079"/>
            <a:ext cx="5029200" cy="24436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800"/>
              </a:lnSpc>
            </a:pPr>
            <a:r>
              <a:rPr lang="en-US" sz="1250" dirty="0" err="1"/>
              <a:t>plt.figure</a:t>
            </a:r>
            <a:r>
              <a:rPr lang="en-US" sz="1250" dirty="0"/>
              <a:t>(</a:t>
            </a:r>
            <a:r>
              <a:rPr lang="en-US" sz="1250" dirty="0" err="1"/>
              <a:t>figsize</a:t>
            </a:r>
            <a:r>
              <a:rPr lang="en-US" sz="1250" dirty="0"/>
              <a:t>=(8, 5))</a:t>
            </a:r>
          </a:p>
          <a:p>
            <a:pPr>
              <a:lnSpc>
                <a:spcPts val="1800"/>
              </a:lnSpc>
            </a:pPr>
            <a:r>
              <a:rPr lang="en-US" sz="1250" dirty="0" err="1"/>
              <a:t>sns.boxplot</a:t>
            </a:r>
            <a:r>
              <a:rPr lang="en-US" sz="1250" dirty="0"/>
              <a:t>(</a:t>
            </a:r>
          </a:p>
          <a:p>
            <a:pPr>
              <a:lnSpc>
                <a:spcPts val="1800"/>
              </a:lnSpc>
            </a:pPr>
            <a:r>
              <a:rPr lang="en-US" sz="1250" dirty="0"/>
              <a:t>    data=</a:t>
            </a:r>
            <a:r>
              <a:rPr lang="en-US" sz="1250" dirty="0" err="1"/>
              <a:t>df_eda</a:t>
            </a:r>
            <a:r>
              <a:rPr lang="en-US" sz="1250" dirty="0"/>
              <a:t>,</a:t>
            </a:r>
          </a:p>
          <a:p>
            <a:pPr>
              <a:lnSpc>
                <a:spcPts val="1800"/>
              </a:lnSpc>
            </a:pPr>
            <a:r>
              <a:rPr lang="en-US" sz="1250" dirty="0"/>
              <a:t>    x="</a:t>
            </a:r>
            <a:r>
              <a:rPr lang="en-US" sz="1250" dirty="0" err="1"/>
              <a:t>Tire_Type_clean</a:t>
            </a:r>
            <a:r>
              <a:rPr lang="en-US" sz="1250" dirty="0"/>
              <a:t>",</a:t>
            </a:r>
          </a:p>
          <a:p>
            <a:pPr>
              <a:lnSpc>
                <a:spcPts val="1800"/>
              </a:lnSpc>
            </a:pPr>
            <a:r>
              <a:rPr lang="en-US" sz="1250" dirty="0"/>
              <a:t>    y="</a:t>
            </a:r>
            <a:r>
              <a:rPr lang="en-US" sz="1250" dirty="0" err="1"/>
              <a:t>Price_INR</a:t>
            </a:r>
            <a:r>
              <a:rPr lang="en-US" sz="1250" dirty="0"/>
              <a:t>"</a:t>
            </a:r>
          </a:p>
          <a:p>
            <a:pPr>
              <a:lnSpc>
                <a:spcPts val="1800"/>
              </a:lnSpc>
            </a:pPr>
            <a:r>
              <a:rPr lang="en-US" sz="1250" dirty="0"/>
              <a:t>)</a:t>
            </a:r>
          </a:p>
          <a:p>
            <a:pPr>
              <a:lnSpc>
                <a:spcPts val="1800"/>
              </a:lnSpc>
            </a:pPr>
            <a:r>
              <a:rPr lang="en-US" sz="1250" dirty="0" err="1"/>
              <a:t>plt.title</a:t>
            </a:r>
            <a:r>
              <a:rPr lang="en-US" sz="1250" dirty="0"/>
              <a:t>("Bike Price by Tire Type")</a:t>
            </a:r>
          </a:p>
          <a:p>
            <a:pPr>
              <a:lnSpc>
                <a:spcPts val="1800"/>
              </a:lnSpc>
            </a:pPr>
            <a:r>
              <a:rPr lang="en-US" sz="1250" dirty="0" err="1"/>
              <a:t>plt.xlabel</a:t>
            </a:r>
            <a:r>
              <a:rPr lang="en-US" sz="1250" dirty="0"/>
              <a:t>("Tire Type")</a:t>
            </a:r>
          </a:p>
          <a:p>
            <a:pPr>
              <a:lnSpc>
                <a:spcPts val="1800"/>
              </a:lnSpc>
            </a:pPr>
            <a:r>
              <a:rPr lang="en-US" sz="1250" dirty="0" err="1"/>
              <a:t>plt.ylabel</a:t>
            </a:r>
            <a:r>
              <a:rPr lang="en-US" sz="1250" dirty="0"/>
              <a:t>("Price (INR)")</a:t>
            </a:r>
          </a:p>
          <a:p>
            <a:pPr>
              <a:lnSpc>
                <a:spcPts val="1800"/>
              </a:lnSpc>
            </a:pPr>
            <a:r>
              <a:rPr lang="en-US" sz="1250" dirty="0" err="1"/>
              <a:t>plt.show</a:t>
            </a:r>
            <a:r>
              <a:rPr lang="en-US" sz="1250" dirty="0"/>
              <a:t>()</a:t>
            </a:r>
          </a:p>
        </p:txBody>
      </p:sp>
      <p:sp>
        <p:nvSpPr>
          <p:cNvPr id="12" name="Text 10"/>
          <p:cNvSpPr/>
          <p:nvPr/>
        </p:nvSpPr>
        <p:spPr>
          <a:xfrm>
            <a:off x="6217920" y="10241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/ Chart :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1371600"/>
            <a:ext cx="5394960" cy="3922776"/>
          </a:xfrm>
          <a:prstGeom prst="rect">
            <a:avLst/>
          </a:prstGeom>
          <a:solidFill>
            <a:srgbClr val="F6F6F6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371600"/>
            <a:ext cx="5394960" cy="320040"/>
          </a:xfrm>
          <a:prstGeom prst="rect">
            <a:avLst/>
          </a:prstGeom>
          <a:solidFill>
            <a:srgbClr val="EAEAEA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148132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6" name="Shape 14"/>
          <p:cNvSpPr/>
          <p:nvPr/>
        </p:nvSpPr>
        <p:spPr>
          <a:xfrm>
            <a:off x="6556248" y="148132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7" name="Shape 15"/>
          <p:cNvSpPr/>
          <p:nvPr/>
        </p:nvSpPr>
        <p:spPr>
          <a:xfrm>
            <a:off x="6757416" y="148132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0" y="13716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92240" y="178308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paste your chart / output screenshot here ]</a:t>
            </a:r>
            <a:endParaRPr lang="en-US" sz="120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05C00D7-9B0B-4FEC-BCBE-5730C1A648C1}"/>
              </a:ext>
            </a:extLst>
          </p:cNvPr>
          <p:cNvGrpSpPr/>
          <p:nvPr/>
        </p:nvGrpSpPr>
        <p:grpSpPr>
          <a:xfrm>
            <a:off x="548640" y="5102352"/>
            <a:ext cx="11064240" cy="1920240"/>
            <a:chOff x="548640" y="3931920"/>
            <a:chExt cx="11064240" cy="1920240"/>
          </a:xfrm>
        </p:grpSpPr>
        <p:sp>
          <p:nvSpPr>
            <p:cNvPr id="20" name="Text 18"/>
            <p:cNvSpPr/>
            <p:nvPr/>
          </p:nvSpPr>
          <p:spPr>
            <a:xfrm>
              <a:off x="548640" y="3931920"/>
              <a:ext cx="27432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E01F2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Key Insight :-</a:t>
              </a:r>
              <a:endParaRPr lang="en-US" sz="14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548640" y="4279392"/>
              <a:ext cx="11064240" cy="822960"/>
            </a:xfrm>
            <a:prstGeom prst="rect">
              <a:avLst/>
            </a:prstGeom>
            <a:solidFill>
              <a:srgbClr val="FBF2F2"/>
            </a:solidFill>
            <a:ln w="12700">
              <a:solidFill>
                <a:srgbClr val="F0D6D6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777240" y="4389120"/>
              <a:ext cx="10607040" cy="14630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IN" sz="1600" b="1" dirty="0"/>
                <a:t>Bikes with tubeless tires generally have higher median prices and a wider price distribution compared with tubed bikes, indicating that tubeless tires are more prevalent among higher-priced models</a:t>
              </a:r>
              <a:r>
                <a:rPr lang="en-IN" sz="1600" dirty="0"/>
                <a:t>.</a:t>
              </a:r>
              <a:endParaRPr lang="en-US" sz="1600" dirty="0"/>
            </a:p>
          </p:txBody>
        </p:sp>
      </p:grpSp>
      <p:pic>
        <p:nvPicPr>
          <p:cNvPr id="23" name="Image 0" descr="inno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7352" y="6450446"/>
            <a:ext cx="1051560" cy="151522"/>
          </a:xfrm>
          <a:prstGeom prst="rect">
            <a:avLst/>
          </a:prstGeom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A577AD7F-36D4-4C18-9C96-55A3771459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6547585" y="1964499"/>
            <a:ext cx="4735629" cy="3087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1"/>
          <p:cNvSpPr/>
          <p:nvPr/>
        </p:nvSpPr>
        <p:spPr>
          <a:xfrm>
            <a:off x="6122469" y="1051559"/>
            <a:ext cx="5394960" cy="3585410"/>
          </a:xfrm>
          <a:prstGeom prst="rect">
            <a:avLst/>
          </a:prstGeom>
          <a:solidFill>
            <a:srgbClr val="F6F6F6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" name="Shape 12"/>
          <p:cNvSpPr/>
          <p:nvPr/>
        </p:nvSpPr>
        <p:spPr>
          <a:xfrm>
            <a:off x="6103058" y="1044710"/>
            <a:ext cx="5765854" cy="320040"/>
          </a:xfrm>
          <a:prstGeom prst="rect">
            <a:avLst/>
          </a:prstGeom>
          <a:solidFill>
            <a:srgbClr val="EAEAEA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11521440" y="-822960"/>
            <a:ext cx="2011680" cy="2011680"/>
          </a:xfrm>
          <a:prstGeom prst="ellipse">
            <a:avLst/>
          </a:prstGeom>
          <a:solidFill>
            <a:srgbClr val="E01F26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1106424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900" b="1" dirty="0">
                <a:solidFill>
                  <a:srgbClr val="E0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Q6. </a:t>
            </a:r>
            <a:r>
              <a:rPr lang="en-IN" sz="2000" dirty="0">
                <a:solidFill>
                  <a:srgbClr val="FF0000"/>
                </a:solidFill>
              </a:rPr>
              <a:t>Engine Capacity vs Maximum Power</a:t>
            </a:r>
            <a:r>
              <a:rPr lang="en-US" sz="19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</a:t>
            </a:r>
            <a:r>
              <a:rPr lang="en-IN" sz="2000" dirty="0">
                <a:solidFill>
                  <a:srgbClr val="FF0000"/>
                </a:solidFill>
              </a:rPr>
              <a:t>Does a higher engine capacity generally result in higher maximum power?</a:t>
            </a:r>
            <a:endParaRPr lang="en-US" sz="1900" dirty="0">
              <a:solidFill>
                <a:srgbClr val="FF00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79120" y="7498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2918" y="1044710"/>
            <a:ext cx="5394960" cy="3239268"/>
          </a:xfrm>
          <a:prstGeom prst="rect">
            <a:avLst/>
          </a:prstGeom>
          <a:solidFill>
            <a:srgbClr val="F6F6F6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104471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analysis.py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92240" y="178308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paste your chart / output screenshot here ]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4088" y="4463904"/>
            <a:ext cx="2617751" cy="3863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 :-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6186" y="4850246"/>
            <a:ext cx="11064240" cy="1600200"/>
          </a:xfrm>
          <a:prstGeom prst="rect">
            <a:avLst/>
          </a:prstGeom>
          <a:solidFill>
            <a:srgbClr val="FBF2F2"/>
          </a:solidFill>
          <a:ln w="12700">
            <a:solidFill>
              <a:srgbClr val="F0D6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850246"/>
            <a:ext cx="10607040" cy="10019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1600" b="1" dirty="0"/>
              <a:t>Engine capacity and maximum power show a strong positive correlation, indicating that engine size is an important factor associated with motorcycle performance.</a:t>
            </a:r>
          </a:p>
          <a:p>
            <a:pPr marL="0" indent="0">
              <a:buNone/>
            </a:pPr>
            <a:endParaRPr lang="en-US" sz="1350" dirty="0"/>
          </a:p>
        </p:txBody>
      </p:sp>
      <p:pic>
        <p:nvPicPr>
          <p:cNvPr id="23" name="Image 0" descr="inno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7352" y="6450446"/>
            <a:ext cx="1051560" cy="151522"/>
          </a:xfrm>
          <a:prstGeom prst="rect">
            <a:avLst/>
          </a:prstGeom>
        </p:spPr>
      </p:pic>
      <p:sp>
        <p:nvSpPr>
          <p:cNvPr id="12" name="Text 10"/>
          <p:cNvSpPr/>
          <p:nvPr/>
        </p:nvSpPr>
        <p:spPr>
          <a:xfrm>
            <a:off x="6122469" y="704087"/>
            <a:ext cx="3657600" cy="354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/ Chart :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59629" y="1161287"/>
            <a:ext cx="100584" cy="11156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6" name="Shape 14"/>
          <p:cNvSpPr/>
          <p:nvPr/>
        </p:nvSpPr>
        <p:spPr>
          <a:xfrm>
            <a:off x="6460797" y="1161287"/>
            <a:ext cx="100584" cy="11156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7" name="Shape 15"/>
          <p:cNvSpPr/>
          <p:nvPr/>
        </p:nvSpPr>
        <p:spPr>
          <a:xfrm>
            <a:off x="6661965" y="1161287"/>
            <a:ext cx="100584" cy="11156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8" name="Text 16"/>
          <p:cNvSpPr/>
          <p:nvPr/>
        </p:nvSpPr>
        <p:spPr>
          <a:xfrm>
            <a:off x="7036869" y="1051559"/>
            <a:ext cx="4297680" cy="354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10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80DF907-18B0-4A66-8EA4-608FFB73A018}"/>
              </a:ext>
            </a:extLst>
          </p:cNvPr>
          <p:cNvGrpSpPr/>
          <p:nvPr/>
        </p:nvGrpSpPr>
        <p:grpSpPr>
          <a:xfrm>
            <a:off x="536929" y="1044710"/>
            <a:ext cx="5394960" cy="3207250"/>
            <a:chOff x="548640" y="1371600"/>
            <a:chExt cx="5394960" cy="3207250"/>
          </a:xfrm>
        </p:grpSpPr>
        <p:sp>
          <p:nvSpPr>
            <p:cNvPr id="6" name="Shape 4"/>
            <p:cNvSpPr/>
            <p:nvPr/>
          </p:nvSpPr>
          <p:spPr>
            <a:xfrm>
              <a:off x="548640" y="1371600"/>
              <a:ext cx="5394960" cy="320040"/>
            </a:xfrm>
            <a:prstGeom prst="rect">
              <a:avLst/>
            </a:prstGeom>
            <a:solidFill>
              <a:srgbClr val="EAEAEA"/>
            </a:solidFill>
            <a:ln w="12700">
              <a:solidFill>
                <a:srgbClr val="DADADA"/>
              </a:solidFill>
              <a:prstDash val="solid"/>
            </a:ln>
          </p:spPr>
        </p:sp>
        <p:sp>
          <p:nvSpPr>
            <p:cNvPr id="7" name="Shape 5"/>
            <p:cNvSpPr/>
            <p:nvPr/>
          </p:nvSpPr>
          <p:spPr>
            <a:xfrm>
              <a:off x="685800" y="1481328"/>
              <a:ext cx="100584" cy="100584"/>
            </a:xfrm>
            <a:prstGeom prst="ellipse">
              <a:avLst/>
            </a:prstGeom>
            <a:solidFill>
              <a:srgbClr val="FF5F56"/>
            </a:solidFill>
            <a:ln/>
          </p:spPr>
        </p:sp>
        <p:sp>
          <p:nvSpPr>
            <p:cNvPr id="8" name="Shape 6"/>
            <p:cNvSpPr/>
            <p:nvPr/>
          </p:nvSpPr>
          <p:spPr>
            <a:xfrm>
              <a:off x="886968" y="1481328"/>
              <a:ext cx="100584" cy="100584"/>
            </a:xfrm>
            <a:prstGeom prst="ellipse">
              <a:avLst/>
            </a:prstGeom>
            <a:solidFill>
              <a:srgbClr val="FFBD2E"/>
            </a:solidFill>
            <a:ln/>
          </p:spPr>
        </p:sp>
        <p:sp>
          <p:nvSpPr>
            <p:cNvPr id="9" name="Shape 7"/>
            <p:cNvSpPr/>
            <p:nvPr/>
          </p:nvSpPr>
          <p:spPr>
            <a:xfrm>
              <a:off x="1088136" y="1481328"/>
              <a:ext cx="100584" cy="100584"/>
            </a:xfrm>
            <a:prstGeom prst="ellipse">
              <a:avLst/>
            </a:prstGeom>
            <a:solidFill>
              <a:srgbClr val="27C93F"/>
            </a:solidFill>
            <a:ln/>
          </p:spPr>
        </p:sp>
        <p:sp>
          <p:nvSpPr>
            <p:cNvPr id="11" name="Text 9"/>
            <p:cNvSpPr/>
            <p:nvPr/>
          </p:nvSpPr>
          <p:spPr>
            <a:xfrm>
              <a:off x="731520" y="1757942"/>
              <a:ext cx="5029200" cy="2820908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IN" dirty="0" err="1"/>
                <a:t>plt.figure</a:t>
              </a:r>
              <a:r>
                <a:rPr lang="en-IN" dirty="0"/>
                <a:t>(</a:t>
              </a:r>
              <a:r>
                <a:rPr lang="en-IN" dirty="0" err="1"/>
                <a:t>figsize</a:t>
              </a:r>
              <a:r>
                <a:rPr lang="en-IN" dirty="0"/>
                <a:t>=(9, 5))</a:t>
              </a:r>
            </a:p>
            <a:p>
              <a:r>
                <a:rPr lang="en-IN" dirty="0" err="1"/>
                <a:t>sns.scatterplot</a:t>
              </a:r>
              <a:r>
                <a:rPr lang="en-IN" dirty="0"/>
                <a:t>(</a:t>
              </a:r>
            </a:p>
            <a:p>
              <a:r>
                <a:rPr lang="en-IN" dirty="0"/>
                <a:t>    data=</a:t>
              </a:r>
              <a:r>
                <a:rPr lang="en-IN" dirty="0" err="1"/>
                <a:t>df</a:t>
              </a:r>
              <a:r>
                <a:rPr lang="en-IN" dirty="0"/>
                <a:t>,</a:t>
              </a:r>
            </a:p>
            <a:p>
              <a:r>
                <a:rPr lang="en-IN" dirty="0"/>
                <a:t>    x="</a:t>
              </a:r>
              <a:r>
                <a:rPr lang="en-IN" dirty="0" err="1"/>
                <a:t>Engine_Capacity_CC</a:t>
              </a:r>
              <a:r>
                <a:rPr lang="en-IN" dirty="0"/>
                <a:t>",</a:t>
              </a:r>
            </a:p>
            <a:p>
              <a:r>
                <a:rPr lang="en-IN" dirty="0"/>
                <a:t>    y="</a:t>
              </a:r>
              <a:r>
                <a:rPr lang="en-IN" dirty="0" err="1"/>
                <a:t>Maximum_Power_BHP</a:t>
              </a:r>
              <a:r>
                <a:rPr lang="en-IN" dirty="0"/>
                <a:t>"</a:t>
              </a:r>
            </a:p>
            <a:p>
              <a:r>
                <a:rPr lang="en-IN" dirty="0"/>
                <a:t>)</a:t>
              </a:r>
            </a:p>
            <a:p>
              <a:r>
                <a:rPr lang="en-IN" dirty="0" err="1"/>
                <a:t>plt.title</a:t>
              </a:r>
              <a:r>
                <a:rPr lang="en-IN" dirty="0"/>
                <a:t>("Engine Capacity vs Maximum Power")</a:t>
              </a:r>
            </a:p>
            <a:p>
              <a:r>
                <a:rPr lang="en-IN" dirty="0" err="1"/>
                <a:t>plt.xlabel</a:t>
              </a:r>
              <a:r>
                <a:rPr lang="en-IN" dirty="0"/>
                <a:t>("Engine Capacity (CC)")</a:t>
              </a:r>
            </a:p>
            <a:p>
              <a:r>
                <a:rPr lang="en-IN" dirty="0" err="1"/>
                <a:t>plt.ylabel</a:t>
              </a:r>
              <a:r>
                <a:rPr lang="en-IN" dirty="0"/>
                <a:t>("Maximum Power (BHP)")</a:t>
              </a:r>
            </a:p>
            <a:p>
              <a:r>
                <a:rPr lang="en-IN" dirty="0" err="1"/>
                <a:t>plt.show</a:t>
              </a:r>
              <a:r>
                <a:rPr lang="en-IN" dirty="0"/>
                <a:t>()</a:t>
              </a:r>
            </a:p>
            <a:p>
              <a:pPr marL="0" indent="0">
                <a:lnSpc>
                  <a:spcPts val="1800"/>
                </a:lnSpc>
                <a:buNone/>
              </a:pPr>
              <a:endParaRPr lang="en-US" sz="1250" dirty="0"/>
            </a:p>
          </p:txBody>
        </p: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79DFB03B-8ED3-2854-5853-6ACBC205D7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8932" y="1561338"/>
            <a:ext cx="5669980" cy="307563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1"/>
          <p:cNvSpPr/>
          <p:nvPr/>
        </p:nvSpPr>
        <p:spPr>
          <a:xfrm>
            <a:off x="5315552" y="948367"/>
            <a:ext cx="6297328" cy="4311396"/>
          </a:xfrm>
          <a:prstGeom prst="rect">
            <a:avLst/>
          </a:prstGeom>
          <a:solidFill>
            <a:srgbClr val="F6F6F6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11521440" y="-822960"/>
            <a:ext cx="2011680" cy="2011680"/>
          </a:xfrm>
          <a:prstGeom prst="ellipse">
            <a:avLst/>
          </a:prstGeom>
          <a:solidFill>
            <a:srgbClr val="E01F26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55449"/>
            <a:ext cx="11064240" cy="591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9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Q9. </a:t>
            </a:r>
            <a:r>
              <a:rPr lang="en-IN" sz="2000" dirty="0">
                <a:solidFill>
                  <a:srgbClr val="FF0000"/>
                </a:solidFill>
              </a:rPr>
              <a:t>Correlation Analysis</a:t>
            </a:r>
            <a:r>
              <a:rPr lang="en-US" sz="19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</a:t>
            </a:r>
            <a:r>
              <a:rPr lang="en-IN" sz="2000" dirty="0">
                <a:solidFill>
                  <a:srgbClr val="FF0000"/>
                </a:solidFill>
              </a:rPr>
              <a:t>How strongly are the key numerical variables related to each other?</a:t>
            </a:r>
            <a:endParaRPr lang="en-US" sz="1900" dirty="0">
              <a:solidFill>
                <a:srgbClr val="FF00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1" y="1371600"/>
            <a:ext cx="4629752" cy="3291840"/>
          </a:xfrm>
          <a:prstGeom prst="rect">
            <a:avLst/>
          </a:prstGeom>
          <a:solidFill>
            <a:srgbClr val="F6F6F6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4629753" cy="411480"/>
          </a:xfrm>
          <a:prstGeom prst="rect">
            <a:avLst/>
          </a:prstGeom>
          <a:solidFill>
            <a:srgbClr val="EAEAEA"/>
          </a:solidFill>
          <a:ln w="12700">
            <a:solidFill>
              <a:srgbClr val="DADA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48132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86968" y="148132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088136" y="148132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13716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analysis.py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79120" y="1783079"/>
            <a:ext cx="5181600" cy="30841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dirty="0" err="1"/>
              <a:t>plt.figure</a:t>
            </a:r>
            <a:r>
              <a:rPr lang="en-IN" dirty="0"/>
              <a:t>(</a:t>
            </a:r>
            <a:r>
              <a:rPr lang="en-IN" dirty="0" err="1"/>
              <a:t>figsize</a:t>
            </a:r>
            <a:r>
              <a:rPr lang="en-IN" dirty="0"/>
              <a:t>=(8,6))</a:t>
            </a:r>
          </a:p>
          <a:p>
            <a:r>
              <a:rPr lang="en-IN" dirty="0" err="1"/>
              <a:t>corr</a:t>
            </a:r>
            <a:r>
              <a:rPr lang="en-IN" dirty="0"/>
              <a:t> = </a:t>
            </a:r>
            <a:r>
              <a:rPr lang="en-IN" dirty="0" err="1"/>
              <a:t>df</a:t>
            </a:r>
            <a:r>
              <a:rPr lang="en-IN" dirty="0"/>
              <a:t>[</a:t>
            </a:r>
            <a:r>
              <a:rPr lang="en-IN" dirty="0" err="1"/>
              <a:t>numerical_cols</a:t>
            </a:r>
            <a:r>
              <a:rPr lang="en-IN" dirty="0"/>
              <a:t>].</a:t>
            </a:r>
            <a:r>
              <a:rPr lang="en-IN" dirty="0" err="1"/>
              <a:t>corr</a:t>
            </a:r>
            <a:r>
              <a:rPr lang="en-IN" dirty="0"/>
              <a:t>()</a:t>
            </a:r>
          </a:p>
          <a:p>
            <a:r>
              <a:rPr lang="en-IN" dirty="0" err="1"/>
              <a:t>sns.heatmap</a:t>
            </a:r>
            <a:r>
              <a:rPr lang="en-IN" dirty="0"/>
              <a:t>(</a:t>
            </a:r>
          </a:p>
          <a:p>
            <a:r>
              <a:rPr lang="en-IN" dirty="0"/>
              <a:t>    </a:t>
            </a:r>
            <a:r>
              <a:rPr lang="en-IN" dirty="0" err="1"/>
              <a:t>corr</a:t>
            </a:r>
            <a:r>
              <a:rPr lang="en-IN" dirty="0"/>
              <a:t>,</a:t>
            </a:r>
          </a:p>
          <a:p>
            <a:r>
              <a:rPr lang="en-IN" dirty="0"/>
              <a:t>    </a:t>
            </a:r>
            <a:r>
              <a:rPr lang="en-IN" dirty="0" err="1"/>
              <a:t>annot</a:t>
            </a:r>
            <a:r>
              <a:rPr lang="en-IN" dirty="0"/>
              <a:t>=True,</a:t>
            </a:r>
          </a:p>
          <a:p>
            <a:r>
              <a:rPr lang="en-IN" dirty="0"/>
              <a:t>    </a:t>
            </a:r>
            <a:r>
              <a:rPr lang="en-IN" dirty="0" err="1"/>
              <a:t>cmap</a:t>
            </a:r>
            <a:r>
              <a:rPr lang="en-IN" dirty="0"/>
              <a:t>="</a:t>
            </a:r>
            <a:r>
              <a:rPr lang="en-IN" dirty="0" err="1"/>
              <a:t>coolwarm</a:t>
            </a:r>
            <a:r>
              <a:rPr lang="en-IN" dirty="0"/>
              <a:t>",</a:t>
            </a:r>
          </a:p>
          <a:p>
            <a:r>
              <a:rPr lang="en-IN" dirty="0"/>
              <a:t>    </a:t>
            </a:r>
            <a:r>
              <a:rPr lang="en-IN" dirty="0" err="1"/>
              <a:t>fmt</a:t>
            </a:r>
            <a:r>
              <a:rPr lang="en-IN" dirty="0"/>
              <a:t>=".2f"</a:t>
            </a:r>
          </a:p>
          <a:p>
            <a:r>
              <a:rPr lang="en-IN" dirty="0"/>
              <a:t>)</a:t>
            </a:r>
          </a:p>
          <a:p>
            <a:r>
              <a:rPr lang="en-IN" dirty="0" err="1"/>
              <a:t>plt.title</a:t>
            </a:r>
            <a:r>
              <a:rPr lang="en-IN" dirty="0"/>
              <a:t>("Correlation Matrix")</a:t>
            </a:r>
          </a:p>
          <a:p>
            <a:r>
              <a:rPr lang="en-IN" dirty="0" err="1"/>
              <a:t>plt.show</a:t>
            </a:r>
            <a:r>
              <a:rPr lang="en-IN" dirty="0"/>
              <a:t>()</a:t>
            </a:r>
          </a:p>
        </p:txBody>
      </p:sp>
      <p:sp>
        <p:nvSpPr>
          <p:cNvPr id="12" name="Text 10"/>
          <p:cNvSpPr/>
          <p:nvPr/>
        </p:nvSpPr>
        <p:spPr>
          <a:xfrm>
            <a:off x="6179175" y="642689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/ Chart :</a:t>
            </a:r>
            <a:endParaRPr lang="en-US" sz="14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5593B67-3310-4225-AE20-93A8885F5620}"/>
              </a:ext>
            </a:extLst>
          </p:cNvPr>
          <p:cNvGrpSpPr/>
          <p:nvPr/>
        </p:nvGrpSpPr>
        <p:grpSpPr>
          <a:xfrm>
            <a:off x="5315552" y="948367"/>
            <a:ext cx="6298932" cy="350082"/>
            <a:chOff x="6217920" y="1371600"/>
            <a:chExt cx="5394960" cy="320040"/>
          </a:xfrm>
        </p:grpSpPr>
        <p:sp>
          <p:nvSpPr>
            <p:cNvPr id="14" name="Shape 12"/>
            <p:cNvSpPr/>
            <p:nvPr/>
          </p:nvSpPr>
          <p:spPr>
            <a:xfrm>
              <a:off x="6217920" y="1371600"/>
              <a:ext cx="5394960" cy="320040"/>
            </a:xfrm>
            <a:prstGeom prst="rect">
              <a:avLst/>
            </a:prstGeom>
            <a:solidFill>
              <a:srgbClr val="EAEAEA"/>
            </a:solidFill>
            <a:ln w="12700">
              <a:solidFill>
                <a:srgbClr val="DADADA"/>
              </a:solidFill>
              <a:prstDash val="solid"/>
            </a:ln>
          </p:spPr>
        </p:sp>
        <p:sp>
          <p:nvSpPr>
            <p:cNvPr id="15" name="Shape 13"/>
            <p:cNvSpPr/>
            <p:nvPr/>
          </p:nvSpPr>
          <p:spPr>
            <a:xfrm>
              <a:off x="6355080" y="1481328"/>
              <a:ext cx="100584" cy="100584"/>
            </a:xfrm>
            <a:prstGeom prst="ellipse">
              <a:avLst/>
            </a:prstGeom>
            <a:solidFill>
              <a:srgbClr val="FF5F56"/>
            </a:solidFill>
            <a:ln/>
          </p:spPr>
        </p:sp>
        <p:sp>
          <p:nvSpPr>
            <p:cNvPr id="16" name="Shape 14"/>
            <p:cNvSpPr/>
            <p:nvPr/>
          </p:nvSpPr>
          <p:spPr>
            <a:xfrm>
              <a:off x="6556248" y="1481328"/>
              <a:ext cx="100584" cy="100584"/>
            </a:xfrm>
            <a:prstGeom prst="ellipse">
              <a:avLst/>
            </a:prstGeom>
            <a:solidFill>
              <a:srgbClr val="FFBD2E"/>
            </a:solidFill>
            <a:ln/>
          </p:spPr>
        </p:sp>
        <p:sp>
          <p:nvSpPr>
            <p:cNvPr id="17" name="Shape 15"/>
            <p:cNvSpPr/>
            <p:nvPr/>
          </p:nvSpPr>
          <p:spPr>
            <a:xfrm>
              <a:off x="6757416" y="1481328"/>
              <a:ext cx="100584" cy="100584"/>
            </a:xfrm>
            <a:prstGeom prst="ellipse">
              <a:avLst/>
            </a:prstGeom>
            <a:solidFill>
              <a:srgbClr val="27C93F"/>
            </a:solidFill>
            <a:ln/>
          </p:spPr>
        </p:sp>
        <p:sp>
          <p:nvSpPr>
            <p:cNvPr id="18" name="Text 16"/>
            <p:cNvSpPr/>
            <p:nvPr/>
          </p:nvSpPr>
          <p:spPr>
            <a:xfrm>
              <a:off x="7132320" y="1371600"/>
              <a:ext cx="42976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888888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output</a:t>
              </a:r>
              <a:endParaRPr lang="en-US" sz="1000" dirty="0"/>
            </a:p>
          </p:txBody>
        </p:sp>
      </p:grpSp>
      <p:sp>
        <p:nvSpPr>
          <p:cNvPr id="19" name="Text 17"/>
          <p:cNvSpPr/>
          <p:nvPr/>
        </p:nvSpPr>
        <p:spPr>
          <a:xfrm>
            <a:off x="6492240" y="178308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paste your chart / output screenshot here ]</a:t>
            </a:r>
            <a:endParaRPr lang="en-US" sz="120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82E2726-BD3C-4F47-81D0-D9CFDF7D6B32}"/>
              </a:ext>
            </a:extLst>
          </p:cNvPr>
          <p:cNvGrpSpPr/>
          <p:nvPr/>
        </p:nvGrpSpPr>
        <p:grpSpPr>
          <a:xfrm>
            <a:off x="548640" y="5102352"/>
            <a:ext cx="11064240" cy="1112959"/>
            <a:chOff x="548640" y="3989393"/>
            <a:chExt cx="11064240" cy="1112959"/>
          </a:xfrm>
        </p:grpSpPr>
        <p:sp>
          <p:nvSpPr>
            <p:cNvPr id="20" name="Text 18"/>
            <p:cNvSpPr/>
            <p:nvPr/>
          </p:nvSpPr>
          <p:spPr>
            <a:xfrm>
              <a:off x="548640" y="3989393"/>
              <a:ext cx="27432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E01F2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Key Insight :-</a:t>
              </a:r>
              <a:endParaRPr lang="en-US" sz="14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548640" y="4279392"/>
              <a:ext cx="11064240" cy="822960"/>
            </a:xfrm>
            <a:prstGeom prst="rect">
              <a:avLst/>
            </a:prstGeom>
            <a:solidFill>
              <a:srgbClr val="FBF2F2"/>
            </a:solidFill>
            <a:ln w="12700">
              <a:solidFill>
                <a:srgbClr val="F0D6D6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777240" y="4389120"/>
              <a:ext cx="10607040" cy="580644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IN" sz="1600" b="1" dirty="0"/>
                <a:t>Price and Maximum Power also show a positive relationship, suggesting that higher-performance bikes tend to be positioned at higher price points.</a:t>
              </a:r>
              <a:endParaRPr lang="en-US" sz="1600" b="1" dirty="0"/>
            </a:p>
          </p:txBody>
        </p:sp>
      </p:grpSp>
      <p:pic>
        <p:nvPicPr>
          <p:cNvPr id="23" name="Image 0" descr="inno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7352" y="6450446"/>
            <a:ext cx="1051560" cy="151522"/>
          </a:xfrm>
          <a:prstGeom prst="rect">
            <a:avLst/>
          </a:prstGeom>
        </p:spPr>
      </p:pic>
      <p:pic>
        <p:nvPicPr>
          <p:cNvPr id="9222" name="Picture 6">
            <a:extLst>
              <a:ext uri="{FF2B5EF4-FFF2-40B4-BE49-F238E27FC236}">
                <a16:creationId xmlns:a16="http://schemas.microsoft.com/office/drawing/2014/main" id="{16AAC876-7C6B-4A50-A7A0-9E83554106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6179955" y="1344168"/>
            <a:ext cx="4594992" cy="4005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5760720"/>
            <a:ext cx="2011680" cy="2011680"/>
          </a:xfrm>
          <a:prstGeom prst="ellipse">
            <a:avLst/>
          </a:prstGeom>
          <a:solidFill>
            <a:srgbClr val="E01F26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41960" y="-274320"/>
            <a:ext cx="11170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Questions - Answers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41960" y="594360"/>
            <a:ext cx="11079480" cy="60956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sz="2000" b="1" dirty="0"/>
              <a:t>1. Brand Market Presence</a:t>
            </a:r>
            <a:br>
              <a:rPr lang="en-IN" sz="2000" dirty="0"/>
            </a:br>
            <a:r>
              <a:rPr lang="en-IN" sz="2000" b="1" dirty="0"/>
              <a:t>Hero </a:t>
            </a:r>
            <a:r>
              <a:rPr lang="en-IN" sz="2000" dirty="0"/>
              <a:t>has the highest number of bike listings, indicating strong product presence in the </a:t>
            </a:r>
            <a:r>
              <a:rPr lang="en-IN" sz="2000" dirty="0" err="1"/>
              <a:t>analyzed</a:t>
            </a:r>
            <a:r>
              <a:rPr lang="en-IN" sz="2000" dirty="0"/>
              <a:t> dataset.</a:t>
            </a:r>
          </a:p>
          <a:p>
            <a:r>
              <a:rPr lang="en-IN" sz="2000" b="1" dirty="0"/>
              <a:t>2. Premium Brand</a:t>
            </a:r>
            <a:br>
              <a:rPr lang="en-IN" sz="2000" dirty="0"/>
            </a:br>
            <a:r>
              <a:rPr lang="en-US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Harley Davidson</a:t>
            </a:r>
            <a:r>
              <a:rPr lang="en-IN" dirty="0"/>
              <a:t> </a:t>
            </a:r>
            <a:r>
              <a:rPr lang="en-IN" sz="2000" dirty="0"/>
              <a:t>has the highest average bike price, suggesting a stronger focus on the premium segment.</a:t>
            </a:r>
          </a:p>
          <a:p>
            <a:r>
              <a:rPr lang="en-IN" sz="2000" b="1" dirty="0"/>
              <a:t>3. Dominant Engine Segment</a:t>
            </a:r>
            <a:br>
              <a:rPr lang="en-IN" sz="2000" dirty="0"/>
            </a:br>
            <a:r>
              <a:rPr lang="en-IN" sz="2000" b="1" dirty="0"/>
              <a:t>100-200 CC</a:t>
            </a:r>
            <a:r>
              <a:rPr lang="en-IN" sz="2000" dirty="0"/>
              <a:t> bikes are is the most commonly represented engine capacity among the </a:t>
            </a:r>
            <a:r>
              <a:rPr lang="en-IN" sz="2000" dirty="0" err="1"/>
              <a:t>analyzed</a:t>
            </a:r>
            <a:r>
              <a:rPr lang="en-IN" sz="2000" dirty="0"/>
              <a:t> bikes.</a:t>
            </a:r>
          </a:p>
          <a:p>
            <a:r>
              <a:rPr lang="en-IN" sz="2000" b="1" dirty="0"/>
              <a:t>4. Performance Relationship</a:t>
            </a:r>
            <a:br>
              <a:rPr lang="en-IN" sz="2000" dirty="0"/>
            </a:br>
            <a:r>
              <a:rPr lang="en-IN" sz="2000" dirty="0"/>
              <a:t>Engine capacity and maximum power show a </a:t>
            </a:r>
            <a:r>
              <a:rPr lang="en-IN" sz="2000" b="1" dirty="0"/>
              <a:t>positive relationship</a:t>
            </a:r>
            <a:r>
              <a:rPr lang="en-IN" sz="2000" dirty="0"/>
              <a:t>, indicating that higher-CC bikes generally produce greater power.</a:t>
            </a:r>
          </a:p>
          <a:p>
            <a:r>
              <a:rPr lang="en-IN" sz="2000" b="1" dirty="0"/>
              <a:t>5. Price–Performance Relationship</a:t>
            </a:r>
            <a:br>
              <a:rPr lang="en-IN" sz="2000" dirty="0"/>
            </a:br>
            <a:r>
              <a:rPr lang="en-IN" sz="2000" dirty="0"/>
              <a:t>Higher-powered bikes generally command </a:t>
            </a:r>
            <a:r>
              <a:rPr lang="en-IN" sz="2000" b="1" dirty="0"/>
              <a:t>higher prices</a:t>
            </a:r>
            <a:r>
              <a:rPr lang="en-IN" sz="2000" dirty="0"/>
              <a:t>, showing an association between performance and pricing.</a:t>
            </a:r>
          </a:p>
          <a:p>
            <a:r>
              <a:rPr lang="en-IN" sz="2000" b="1" dirty="0"/>
              <a:t>6. Braking System</a:t>
            </a:r>
            <a:br>
              <a:rPr lang="en-IN" sz="2000" dirty="0"/>
            </a:br>
            <a:r>
              <a:rPr lang="en-IN" dirty="0"/>
              <a:t>Disc Break </a:t>
            </a:r>
            <a:r>
              <a:rPr lang="en-IN" sz="2000" dirty="0"/>
              <a:t>is the most commonly listed front braking system, showing its widespread presence across the </a:t>
            </a:r>
            <a:r>
              <a:rPr lang="en-IN" sz="2000" dirty="0" err="1"/>
              <a:t>analyzed</a:t>
            </a:r>
            <a:r>
              <a:rPr lang="en-IN" sz="2000" dirty="0"/>
              <a:t> models.</a:t>
            </a:r>
          </a:p>
          <a:p>
            <a:r>
              <a:rPr lang="en-IN" sz="2000" b="1" dirty="0"/>
              <a:t>7.  Tire &amp; Price Pattern</a:t>
            </a:r>
            <a:br>
              <a:rPr lang="en-IN" sz="2000" dirty="0"/>
            </a:br>
            <a:r>
              <a:rPr lang="en-IN" sz="2000" b="1" dirty="0"/>
              <a:t>Disc</a:t>
            </a:r>
            <a:r>
              <a:rPr lang="en-IN" sz="2000" dirty="0"/>
              <a:t> bikes show a higher median price compared with </a:t>
            </a:r>
            <a:r>
              <a:rPr lang="en-IN" sz="2000" b="1" dirty="0"/>
              <a:t>Drum</a:t>
            </a:r>
            <a:r>
              <a:rPr lang="en-IN" sz="2000" dirty="0"/>
              <a:t> bikes in the dataset.</a:t>
            </a:r>
          </a:p>
          <a:p>
            <a:endParaRPr lang="en-US" sz="2000" dirty="0">
              <a:latin typeface="Bahnschrift Light" panose="020B0502040204020203" pitchFamily="34" charset="0"/>
            </a:endParaRPr>
          </a:p>
        </p:txBody>
      </p:sp>
      <p:pic>
        <p:nvPicPr>
          <p:cNvPr id="5" name="Image 0" descr="innomatic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7352" y="6450446"/>
            <a:ext cx="1051560" cy="15152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5760720"/>
            <a:ext cx="2011680" cy="2011680"/>
          </a:xfrm>
          <a:prstGeom prst="ellipse">
            <a:avLst/>
          </a:prstGeom>
          <a:solidFill>
            <a:srgbClr val="E01F26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300" b="1" dirty="0"/>
              <a:t>Focus on the dominant price segment</a:t>
            </a:r>
            <a:br>
              <a:rPr lang="en-IN" sz="2300" dirty="0"/>
            </a:br>
            <a:r>
              <a:rPr lang="en-IN" sz="2300" dirty="0"/>
              <a:t>Target the largest market segment.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300" b="1" dirty="0"/>
              <a:t>Strengthen mid-range models</a:t>
            </a:r>
            <a:br>
              <a:rPr lang="en-IN" sz="2300" dirty="0"/>
            </a:br>
            <a:r>
              <a:rPr lang="en-IN" sz="2300" dirty="0"/>
              <a:t>Balance price, performance, and features.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300" b="1" dirty="0"/>
              <a:t>Improve performance-to-price value</a:t>
            </a:r>
            <a:br>
              <a:rPr lang="en-IN" sz="2300" dirty="0"/>
            </a:br>
            <a:r>
              <a:rPr lang="en-IN" sz="2300" dirty="0"/>
              <a:t>Offer better performance at competitive prices.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300" b="1" dirty="0"/>
              <a:t>Promote highly rated bikes</a:t>
            </a:r>
            <a:br>
              <a:rPr lang="en-IN" sz="2300" dirty="0"/>
            </a:br>
            <a:r>
              <a:rPr lang="en-IN" sz="2300" dirty="0"/>
              <a:t>Give more visibility to top-rated models.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300" b="1" dirty="0"/>
              <a:t>Enhance modern features</a:t>
            </a:r>
            <a:br>
              <a:rPr lang="en-IN" sz="2300" dirty="0"/>
            </a:br>
            <a:r>
              <a:rPr lang="en-IN" sz="2300" dirty="0"/>
              <a:t>Improve safety and technology features.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300" b="1" dirty="0"/>
              <a:t>Maintain competitive pricing</a:t>
            </a:r>
            <a:br>
              <a:rPr lang="en-IN" sz="2300" dirty="0"/>
            </a:br>
            <a:r>
              <a:rPr lang="en-IN" sz="2300" dirty="0"/>
              <a:t>Provide strong value compared with competitors.</a:t>
            </a:r>
          </a:p>
          <a:p>
            <a:pPr marL="342900" indent="-342900">
              <a:spcAft>
                <a:spcPts val="1400"/>
              </a:spcAft>
              <a:buSzPct val="100000"/>
              <a:buFont typeface="Arial" panose="020B0604020202020204" pitchFamily="34" charset="0"/>
              <a:buChar char="•"/>
            </a:pPr>
            <a:endParaRPr lang="en-US" sz="2300" dirty="0"/>
          </a:p>
        </p:txBody>
      </p:sp>
      <p:pic>
        <p:nvPicPr>
          <p:cNvPr id="5" name="Image 0" descr="inno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7352" y="6450446"/>
            <a:ext cx="1051560" cy="15152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21440" y="-822960"/>
            <a:ext cx="2011680" cy="2011680"/>
          </a:xfrm>
          <a:prstGeom prst="ellipse">
            <a:avLst/>
          </a:prstGeom>
          <a:solidFill>
            <a:srgbClr val="E01F26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75091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Faced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300" b="1" dirty="0"/>
              <a:t>Dynamic Web Data</a:t>
            </a:r>
            <a:br>
              <a:rPr lang="en-IN" sz="2300" dirty="0"/>
            </a:br>
            <a:r>
              <a:rPr lang="en-IN" sz="2300" dirty="0"/>
              <a:t>Website content and structure can change.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300" b="1" dirty="0"/>
              <a:t>Inconsistent Data Formats</a:t>
            </a:r>
            <a:br>
              <a:rPr lang="en-IN" sz="2300" dirty="0"/>
            </a:br>
            <a:r>
              <a:rPr lang="en-IN" sz="2300" dirty="0"/>
              <a:t>Bike specifications were available in different formats.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300" b="1" dirty="0"/>
              <a:t>Missing Values</a:t>
            </a:r>
            <a:br>
              <a:rPr lang="en-IN" sz="2300" dirty="0"/>
            </a:br>
            <a:r>
              <a:rPr lang="en-IN" sz="2300" dirty="0"/>
              <a:t>Some specifications were not available for all bikes.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300" b="1" dirty="0"/>
              <a:t>Power Standardization</a:t>
            </a:r>
            <a:br>
              <a:rPr lang="en-IN" sz="2300" dirty="0"/>
            </a:br>
            <a:r>
              <a:rPr lang="en-IN" sz="2300" dirty="0"/>
              <a:t>Maximum power was available in different units and formats.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300" b="1" dirty="0"/>
              <a:t>Data Cleaning</a:t>
            </a:r>
            <a:br>
              <a:rPr lang="en-IN" sz="2300" dirty="0"/>
            </a:br>
            <a:r>
              <a:rPr lang="en-IN" sz="2300" dirty="0"/>
              <a:t>Brand names, categories, and specifications required standardization.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300" b="1" dirty="0"/>
              <a:t>Electric Bike Filtering</a:t>
            </a:r>
            <a:br>
              <a:rPr lang="en-IN" sz="2300" dirty="0"/>
            </a:br>
            <a:r>
              <a:rPr lang="en-IN" sz="2300" dirty="0"/>
              <a:t>Electric-specific records and attributes had to be excluded from the final analysis.</a:t>
            </a:r>
          </a:p>
          <a:p>
            <a:pPr marL="342900" indent="-342900">
              <a:spcAft>
                <a:spcPts val="1400"/>
              </a:spcAft>
              <a:buSzPct val="100000"/>
              <a:buFont typeface="Arial" panose="020B0604020202020204" pitchFamily="34" charset="0"/>
              <a:buChar char="•"/>
            </a:pPr>
            <a:endParaRPr lang="en-US" sz="2300" dirty="0"/>
          </a:p>
        </p:txBody>
      </p:sp>
      <p:pic>
        <p:nvPicPr>
          <p:cNvPr id="5" name="Image 0" descr="innomatic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7352" y="6450446"/>
            <a:ext cx="1051560" cy="15152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5760720"/>
            <a:ext cx="2011680" cy="2011680"/>
          </a:xfrm>
          <a:prstGeom prst="ellipse">
            <a:avLst/>
          </a:prstGeom>
          <a:solidFill>
            <a:srgbClr val="E01F26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0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6021977" cy="41315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/>
              <a:t>Successfully collected 263 bike listings from Flipkart.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/>
              <a:t>Cleaned and transformed the scraped data into 11 analysis-ready features.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 err="1"/>
              <a:t>Analyzed</a:t>
            </a:r>
            <a:r>
              <a:rPr lang="en-IN" sz="2200" dirty="0"/>
              <a:t> pricing, brands, performance, ratings, and bike features.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/>
              <a:t>Identified relationships between engine capacity, power, and price.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/>
              <a:t>Generated data-driven business insights and recommendations.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200" dirty="0"/>
          </a:p>
          <a:p>
            <a:pPr lvl="0"/>
            <a:r>
              <a:rPr lang="en-IN" sz="2400" b="1" dirty="0"/>
              <a:t>Real-world bike data → Meaningful market insights</a:t>
            </a:r>
            <a:endParaRPr lang="en-IN" sz="2200" b="1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endParaRPr lang="en-US" sz="1700" dirty="0"/>
          </a:p>
        </p:txBody>
      </p:sp>
      <p:pic>
        <p:nvPicPr>
          <p:cNvPr id="5" name="Image 0" descr="innomatic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7352" y="6450446"/>
            <a:ext cx="1051560" cy="15152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E01F2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389120"/>
            <a:ext cx="4572000" cy="4572000"/>
          </a:xfrm>
          <a:prstGeom prst="ellipse">
            <a:avLst/>
          </a:prstGeom>
          <a:solidFill>
            <a:srgbClr val="E01F26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88036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01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6118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 Welcome</a:t>
            </a:r>
            <a:endParaRPr lang="en-US" sz="1600" dirty="0"/>
          </a:p>
        </p:txBody>
      </p:sp>
      <p:pic>
        <p:nvPicPr>
          <p:cNvPr id="6" name="Image 0" descr="handsha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2384862"/>
            <a:ext cx="3291840" cy="2088275"/>
          </a:xfrm>
          <a:prstGeom prst="rect">
            <a:avLst/>
          </a:prstGeom>
        </p:spPr>
      </p:pic>
      <p:pic>
        <p:nvPicPr>
          <p:cNvPr id="7" name="Image 1" descr="innomatics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4432" y="6377980"/>
            <a:ext cx="1554480" cy="2239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1030</TotalTime>
  <Words>1749</Words>
  <Application>Microsoft Office PowerPoint</Application>
  <PresentationFormat>Widescreen</PresentationFormat>
  <Paragraphs>296</Paragraphs>
  <Slides>23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Bahnschrift Light</vt:lpstr>
      <vt:lpstr>Consolas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Kurivella Manikanta</cp:lastModifiedBy>
  <cp:revision>27</cp:revision>
  <dcterms:created xsi:type="dcterms:W3CDTF">2026-07-24T04:23:56Z</dcterms:created>
  <dcterms:modified xsi:type="dcterms:W3CDTF">2026-08-18T09:33:40Z</dcterms:modified>
</cp:coreProperties>
</file>